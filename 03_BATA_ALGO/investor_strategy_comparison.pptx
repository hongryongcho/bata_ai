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2926080"/>
          </a:xfrm>
          <a:prstGeom prst="rect">
            <a:avLst/>
          </a:prstGeom>
          <a:solidFill>
            <a:srgbClr val="1A253F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Malgun Gothic"/>
              </a:rPr>
              <a:t>전 세계 유명 개인투자자 전략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E5FF"/>
                </a:solidFill>
                <a:latin typeface="Malgun Gothic"/>
              </a:rPr>
              <a:t>&amp; BATA RSI(2) 분할매수 알고리즘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AD0"/>
                </a:solidFill>
                <a:latin typeface="Malgun Gothic"/>
              </a:rPr>
              <a:t>수익률 · MDD · 전략 철학 · 구현 난이도 종합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88AAA"/>
                </a:solidFill>
                <a:latin typeface="Malgun Gothic"/>
              </a:rPr>
              <a:t>2026.06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🇺🇸 미국  |  🇰🇷 한국  |  🇯🇵 일본  |  🇸🇬 싱가포르  |  🇩🇪 독일  |  🇭🇰 홍콩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BATA RSI(2) 분할매수 전략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BATA 백테스트 성과 (2021~2026)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HFEA — Hedgefundie (미국)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Dual Momentum GEM — Gary Antonacci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강환국 VAA/BAA 동적 자산배분 (한국)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00584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005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일본 개인투자자 전략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55448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554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싱가포르 CPF·TTI 전략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10312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Dragon Portfolio — Chris Cole (미국)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65176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651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Gerd Kommer 글로벌 팩터 ETF (독일)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200400"/>
            <a:ext cx="502920" cy="4114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종합 비교표 &amp;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01  BATA RSI(2) 분할매수 전략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0352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Malgun Gothic"/>
              </a:rPr>
              <a:t>전략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■ 기본 배분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BIL(T-bill) 10% 보유 + TQQQ 5-lot 풀 90%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각 lot = 전체자산의 18%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■ 매수 신호 (RSI 크로스다운)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RSI(2) &lt; 15 진입 시 → 1 lot 순차 매수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최대 5회까지 분할 집행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5번째 lot → BIL 전량 매도 + 합산 매수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■ 매도 신호 (RSI 크로스업)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RSI(2) &gt; 75 → TQQQ 전량 일괄 매도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사이클 재시작: 새 자산 기준 BIL 10% 재배분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■ 세금 처리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연간 실현손익 22% (비과세 $1,900)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다음 해 첫 거래일 자동 차감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960120"/>
            <a:ext cx="5760720" cy="237744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FFF"/>
                </a:solidFill>
                <a:latin typeface="Malgun Gothic"/>
              </a:rPr>
              <a:t>핵심 철학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Malgun Gothic"/>
              </a:rPr>
              <a:t>'하락을 분할로 흡수, 반등을 전체로 회수'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B0BAD0"/>
                </a:solidFill>
                <a:latin typeface="Malgun Gothic"/>
              </a:rPr>
              <a:t>• RSI 과매도 = 저점 매수 기회 포착</a:t>
            </a:r>
          </a:p>
          <a:p>
            <a:pPr algn="l"/>
            <a:r>
              <a:rPr sz="1300" b="0">
                <a:solidFill>
                  <a:srgbClr val="B0BAD0"/>
                </a:solidFill>
                <a:latin typeface="Malgun Gothic"/>
              </a:rPr>
              <a:t>• 분할매수로 타이밍 리스크 분산</a:t>
            </a:r>
          </a:p>
          <a:p>
            <a:pPr algn="l"/>
            <a:r>
              <a:rPr sz="1300" b="0">
                <a:solidFill>
                  <a:srgbClr val="B0BAD0"/>
                </a:solidFill>
                <a:latin typeface="Malgun Gothic"/>
              </a:rPr>
              <a:t>• BIL 헤지로 대기 자금 수익화</a:t>
            </a:r>
          </a:p>
          <a:p>
            <a:pPr algn="l"/>
            <a:r>
              <a:rPr sz="1300" b="0">
                <a:solidFill>
                  <a:srgbClr val="B0BAD0"/>
                </a:solidFill>
                <a:latin typeface="Malgun Gothic"/>
              </a:rPr>
              <a:t>• 단순 규칙 기반 → 감정 배제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474720"/>
            <a:ext cx="5760720" cy="2743200"/>
          </a:xfrm>
          <a:prstGeom prst="rect">
            <a:avLst/>
          </a:prstGeom>
          <a:solidFill>
            <a:srgbClr val="1A253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사용 자산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77639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TQQQ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나스닥100 3× 레버리지 ETF (ProShares)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변동성 크지만 상승장 폭발적 수익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D48A"/>
                </a:solidFill>
                <a:latin typeface="Malgun Gothic"/>
              </a:rPr>
              <a:t>BIL (구: TMF→교체)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1~3개월 미국 단기국채 ETF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금리상승기에도 안정 / 연 ~4~5% 수익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RSI(2) Wilder EWM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alpha = 1/period (2일 기준)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02  BATA 백테스트 성과 (2021.01 ~ 2026.06)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2560320"/>
          </a:xfrm>
          <a:prstGeom prst="rect">
            <a:avLst/>
          </a:prstGeom>
          <a:solidFill>
            <a:srgbClr val="1A253F"/>
          </a:solidFill>
          <a:ln w="254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D6D"/>
                </a:solidFill>
                <a:latin typeface="Malgun Gothic"/>
              </a:rPr>
              <a:t>FnG RSI-only
(All-in/out 기준선)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algun Gothic"/>
              </a:rPr>
              <a:t>743.1%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E5FF"/>
                </a:solidFill>
                <a:latin typeface="Malgun Gothic"/>
              </a:rPr>
              <a:t>CAGR 48.1%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D6D"/>
                </a:solidFill>
                <a:latin typeface="Malgun Gothic"/>
              </a:rPr>
              <a:t>MDD -48.9%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2560320"/>
          </a:xfrm>
          <a:prstGeom prst="rect">
            <a:avLst/>
          </a:prstGeom>
          <a:solidFill>
            <a:srgbClr val="1A253F"/>
          </a:solidFill>
          <a:ln w="2540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97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  <a:latin typeface="Malgun Gothic"/>
              </a:rPr>
              <a:t>A4 80/5×4
[BIL 10% 헤지]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algun Gothic"/>
              </a:rPr>
              <a:t>301.2%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E5FF"/>
                </a:solidFill>
                <a:latin typeface="Malgun Gothic"/>
              </a:rPr>
              <a:t>CAGR 29.1%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D6D"/>
                </a:solidFill>
                <a:latin typeface="Malgun Gothic"/>
              </a:rPr>
              <a:t>MDD -37.4%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2560320"/>
          </a:xfrm>
          <a:prstGeom prst="rect">
            <a:avLst/>
          </a:prstGeom>
          <a:solidFill>
            <a:srgbClr val="1A253F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097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FFF"/>
                </a:solidFill>
                <a:latin typeface="Malgun Gothic"/>
              </a:rPr>
              <a:t>A 60/10/10/10/10
[BIL 10% 헤지]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algun Gothic"/>
              </a:rPr>
              <a:t>220.1%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E5FF"/>
                </a:solidFill>
                <a:latin typeface="Malgun Gothic"/>
              </a:rPr>
              <a:t>CAGR 23.9%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D6D"/>
                </a:solidFill>
                <a:latin typeface="Malgun Gothic"/>
              </a:rPr>
              <a:t>MDD -29.7%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  <a:latin typeface="Malgun Gothic"/>
              </a:rPr>
              <a:t>연도별 자산 추이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416052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7620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2022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2026.H1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총수익률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A4 BIL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+27.0%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+40.7%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+36.2%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+47.7%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D48A"/>
                          </a:solidFill>
                          <a:latin typeface="Malgun Gothic"/>
                        </a:rPr>
                        <a:t>+18.1%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4D6D"/>
                          </a:solidFill>
                          <a:latin typeface="Malgun Gothic"/>
                        </a:rPr>
                        <a:t>-5.5%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D700"/>
                          </a:solidFill>
                          <a:latin typeface="Malgun Gothic"/>
                        </a:rPr>
                        <a:t>301.2%</a:t>
                      </a:r>
                    </a:p>
                  </a:txBody>
                  <a:tcPr>
                    <a:solidFill>
                      <a:srgbClr val="12281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9FFF"/>
                          </a:solidFill>
                          <a:latin typeface="Malgun Gothic"/>
                        </a:rPr>
                        <a:t>A BIL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+22.6%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+33.6%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+28.8%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+35.9%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+15.7%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4D6D"/>
                          </a:solidFill>
                          <a:latin typeface="Malgun Gothic"/>
                        </a:rPr>
                        <a:t>-3.5%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E5FF"/>
                          </a:solidFill>
                          <a:latin typeface="Malgun Gothic"/>
                        </a:rPr>
                        <a:t>220.1%</a:t>
                      </a:r>
                    </a:p>
                  </a:txBody>
                  <a:tcPr>
                    <a:solidFill>
                      <a:srgbClr val="0D1E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03  HFEA — Hedgefundie's Excellent Adventure  🇺🇸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85800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창시자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익명 'Hedgefundie' — Bogleheads 포럼 (2019)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전략 구조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UPRO(S&amp;P500 3×) 55% + TMF(장기채 3×) 45%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분기 1회 리밸런싱, 변경 없음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이론적 배경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주식↓ = 채권↑ (역상관) → 양방향 레버리지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리밸런싱 보너스로 장기 우수 성과 기대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저금리 시대(2010s)에 최적화된 구조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성과 (2010~2021)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CAGR ~20~32%  /  MDD ~-40%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2022년 TMF -70%, UPRO -70% 동반 폭락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2022년 단일 연도 손실 약 -60~-70%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BATA와의 비교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HFEA: 분기 리밸런싱 수동, TMF 리스크 내재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BATA: RSI 신호 기반 동적 진출입, BIL로 교체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→ 2022년 BATA +33.6% vs HFEA -65% (추정)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389120" cy="2560320"/>
          </a:xfrm>
          <a:prstGeom prst="rect">
            <a:avLst/>
          </a:prstGeom>
          <a:solidFill>
            <a:srgbClr val="1A253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51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algun Gothic"/>
              </a:rPr>
              <a:t>핵심 교훈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0876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주식-채권 역상관 가정은</a:t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금리 급등기에 깨진다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TMF → 최악의 헤지 도구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(금리 상승 = TMF + UPRO 동반 폭락)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레버리지는 하락폭이 치명적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-60% 손실 = 회복에 +150%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703320"/>
            <a:ext cx="4389120" cy="260604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7490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FFF"/>
                </a:solidFill>
                <a:latin typeface="Malgun Gothic"/>
              </a:rPr>
              <a:t>평가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20624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CAGR      ~19~32%  (2010~2021)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MDD       -70%  (2022년 기준)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구현 난이도  ★☆☆ (ETF 2종 매우 쉬움)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⚠ 2022년 이후 전략 신뢰도 급락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포럼 내 포기자 속출, 전략 사망 논란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04  Dual Momentum GEM — Gary Antonacci  🇺🇸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85800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창시자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Gary Antonacci — 저서 'Dual Momentum Investing' (2014)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포트폴리오 성과로 Bernstein Award 수상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전략 구조 (GEM = Global Equity Momentum)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① 절대 모멘텀: 미국주식 12개월 수익 &gt; 단기채?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    No → 현금/채권(AGG) 보유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② 상대 모멘텀: 미국주식 vs 글로벌주식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   승자 ETF (SPY or VEU) 전액 매수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월 1회 체크 → 리밸런싱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이론적 배경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'모멘텀 효과' = 최강 팩터 (Jegadeesh &amp; Titman 1993)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상대·절대 모멘텀 결합으로 하락장 자동 회피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성과 (백테스트 1974~2013)</a:t>
            </a:r>
          </a:p>
          <a:p>
            <a:pPr algn="l"/>
            <a:r>
              <a:rPr sz="1250" b="0">
                <a:solidFill>
                  <a:srgbClr val="00E5FF"/>
                </a:solidFill>
                <a:latin typeface="Malgun Gothic"/>
              </a:rPr>
              <a:t>  CAGR ~17.4%  /  MDD ~-22%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S&amp;P500 MDD -50% 대비 절반 이하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2008~2009 금융위기 거의 무피해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BATA와의 비교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GEM: 월간 신호, ETF 1~2종, 단순 회전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BATA: 일간 RSI 신호, 레버리지 집중, 고수익 고위험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GEM 수익률 낮지만 MDD 훨씬 우수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389120" cy="2377440"/>
          </a:xfrm>
          <a:prstGeom prst="rect">
            <a:avLst/>
          </a:prstGeom>
          <a:solidFill>
            <a:srgbClr val="1A253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51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알파 vs MDD 트레이드오프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수익은 낮지만 MDD 탁월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CAGR   17.4%  vs  BATA 29.1%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MDD   -22%  vs  BATA -37%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'전략 공개 후 알파 약화' 논란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실제 2014 이후 성과는 백테스트 대비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소폭 낮아짐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520440"/>
            <a:ext cx="4389120" cy="278892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FFF"/>
                </a:solidFill>
                <a:latin typeface="Malgun Gothic"/>
              </a:rPr>
              <a:t>핵심 장점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2336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✓ 월 15분 관리, 완전 자동화 가능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✓ 하락장 조기 탈출 검증됨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✓ 규칙이 완전히 투명·공개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✓ 레버리지 없어 장기 유지 용이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✗ 레버리지 없어 상승장 수익 제한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✗ 상승장 추세 뒤늦게 재진입</a:t>
            </a:r>
          </a:p>
          <a:p>
            <a:pPr algn="l"/>
            <a:r>
              <a:rPr sz="1250" b="0">
                <a:solidFill>
                  <a:srgbClr val="FFD700"/>
                </a:solidFill>
                <a:latin typeface="Malgun Gothic"/>
              </a:rPr>
              <a:t>구현 난이도  ★☆☆ (아주 쉬움)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05  강환국 VAA/BAA 동적 자산배분  🇰🇷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85800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창시자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Wouter J. Keller 논문 → 강환국 한국 대중화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저서 '거인의 포트폴리오' (2021) 베스트셀러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VAA (Vigilant Asset Allocation)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공격 ETF: SPY, QQQ, IWM, VGK, EWJ 등 12종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방어 ETF: LQD, IEF, SHY (채권 3종)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매월 모멘텀 스코어 계산 → 1위 ETF 집중 투자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공격 ETF 모멘텀 &lt; 0 → 즉시 현금 100% 전환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BAA (Balanced Asset Allocation)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공격/방어 혼합 비율로 변동성 추가 완화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리스크 대비 수익 최적화 버전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성과 (2007~2020 백테스트)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CAGR ~19~20%  /  MDD ~-13~-15%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2008~2009 금융위기: 거의 무피해 (현금 전환)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2020 코로나 폭락: 빠른 탈출 후 재진입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BATA와의 비교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VAA: CAGR 낮지만 MDD -13% 압도적 방어력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BATA: 레버리지 덕에 CAGR 높지만 MDD -37%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→ MDD 기준 최우수 전략 (레버리지 없이)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389120" cy="2743200"/>
          </a:xfrm>
          <a:prstGeom prst="rect">
            <a:avLst/>
          </a:prstGeom>
          <a:solidFill>
            <a:srgbClr val="1A253F"/>
          </a:solidFill>
          <a:ln w="1270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51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MDD 비교 (목록 내 최우수)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8A"/>
                </a:solidFill>
                <a:latin typeface="Malgun Gothic"/>
              </a:rPr>
              <a:t>VAA/BAA     MDD  -13~-15%</a:t>
            </a:r>
          </a:p>
          <a:p>
            <a:pPr algn="l"/>
            <a:r>
              <a:rPr sz="1250" b="0">
                <a:solidFill>
                  <a:srgbClr val="00E5FF"/>
                </a:solidFill>
                <a:latin typeface="Malgun Gothic"/>
              </a:rPr>
              <a:t>Dual Momentum  MDD  -22%</a:t>
            </a:r>
          </a:p>
          <a:p>
            <a:pPr algn="l"/>
            <a:r>
              <a:rPr sz="1250" b="0">
                <a:solidFill>
                  <a:srgbClr val="009FFF"/>
                </a:solidFill>
                <a:latin typeface="Malgun Gothic"/>
              </a:rPr>
              <a:t>BATA A BIL    MDD  -29.7%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BATA A4 BIL   MDD  -37.4%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HFEA         MDD  -70%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레버리지 없이 CAGR 20% + MDD -13%</a:t>
            </a:r>
          </a:p>
          <a:p>
            <a:pPr algn="l"/>
            <a:r>
              <a:rPr sz="1250" b="0">
                <a:solidFill>
                  <a:srgbClr val="FFD700"/>
                </a:solidFill>
                <a:latin typeface="Malgun Gothic"/>
              </a:rPr>
              <a:t>= 샤프비율 최고 수준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886200"/>
            <a:ext cx="4389120" cy="2423160"/>
          </a:xfrm>
          <a:prstGeom prst="rect">
            <a:avLst/>
          </a:prstGeom>
          <a:solidFill>
            <a:srgbClr val="1A253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Malgun Gothic"/>
              </a:rPr>
              <a:t>한국 퀀트 팩터 전략 (비교)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389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코스닥 소형 저PBR/저PER 팩터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분기 리밸런싱, 한국 소형주 집중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CAGR ~33%  /  MDD -53%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수익 높지만 MDD 너무 큼</a:t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→ 고수익·고MDD 딜레마 동일</a:t>
            </a:r>
          </a:p>
          <a:p>
            <a:pPr algn="l"/>
            <a:r>
              <a:rPr sz="1250" b="0">
                <a:solidFill>
                  <a:srgbClr val="FFD700"/>
                </a:solidFill>
                <a:latin typeface="Malgun Gothic"/>
              </a:rPr>
              <a:t>구현 난이도  ★★★ (국내주식 리서치 필요)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06  일본 개인투자자 대표 전략  🇯🇵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  <a:latin typeface="Malgun Gothic"/>
              </a:rPr>
              <a:t>たぱぞう (Tapazou)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9900"/>
                </a:solidFill>
                <a:latin typeface="Malgun Gothic"/>
              </a:rPr>
              <a:t>전략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VTI/VOO 매월 정액 DCA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배당 자동 재투자, 절대 매도 없음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일본 NISA 계좌 최대 활용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9900"/>
                </a:solidFill>
                <a:latin typeface="Malgun Gothic"/>
              </a:rPr>
              <a:t>철학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'시장 타이밍은 불가능하다'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장기 보유만이 유일한 정답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감정 배제, 자동화 최우선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9900"/>
                </a:solidFill>
                <a:latin typeface="Malgun Gothic"/>
              </a:rPr>
              <a:t>성과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CAGR ~8~10%  /  MDD ~-50%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시장과 동일 (알파 없음)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9900"/>
                </a:solidFill>
                <a:latin typeface="Malgun Gothic"/>
              </a:rPr>
              <a:t>평가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일본 FIRE 운동의 상징적 존재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블로그 월 수백만 뷰, 책 30만부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단순함의 미학 — 실행이 핵심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BATA와 비교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정반대 철학: 타이밍 vs 시간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BATA CAGR 23~29% vs DCA 8~10%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MDD는 Tapazou -50% vs BATA -30~37%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구현 난이도  ★☆☆ (가장 쉬움)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530352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51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FFF"/>
                </a:solidFill>
                <a:latin typeface="Malgun Gothic"/>
              </a:rPr>
              <a:t>バフェット太郎 (버핏 타로)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전략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미국 고배당 우량주 10종목 균등 보유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KO, WMT, JNJ, PM, MCD, PEP 등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배당 재투자, 매분기 리밸런싱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개별종목 추가 매수 없음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철학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'배당이 심리적 안정감을 준다'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불황에도 배당으로 현금 창출 가능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워런 버핏의 장기투자 철학 추종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성과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CAGR ~12~13%  /  MDD ~-40%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S&amp;P500 지속 언더퍼폼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배당수익률 ~3~4% (심리적 완충)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9FFF"/>
                </a:solidFill>
                <a:latin typeface="Malgun Gothic"/>
              </a:rPr>
              <a:t>평가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배당 집중 전략의 수익 한계 확인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VOO/VTI보다 낮은 성과 지속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배당 심리 안정감 외에 수익 메리트 약함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BATA와 비교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BATA CAGR 3배 이상 우수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MDD는 BATA가 약간 더 낮음 (A BIL 기준)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구현 난이도  ★☆☆ (쉬움)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07  싱가포르 · 독일 · 미국 기타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2651760"/>
          </a:xfrm>
          <a:prstGeom prst="rect">
            <a:avLst/>
          </a:prstGeom>
          <a:solidFill>
            <a:srgbClr val="1A253F"/>
          </a:solidFill>
          <a:ln w="1270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1M65 — CPF 극대화  🇸🇬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Loo Cheng Chuan — 싱가포르 시민 전용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CPF SA 4% 정부보증 최대 납입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65세 부부 합산 SGD 100만 목표</a:t>
            </a:r>
          </a:p>
          <a:p>
            <a:pPr algn="l"/>
            <a:r>
              <a:rPr sz="1150" b="0">
                <a:solidFill>
                  <a:srgbClr val="00D48A"/>
                </a:solidFill>
                <a:latin typeface="Malgun Gothic"/>
              </a:rPr>
              <a:t>CAGR 4% / MDD 0% (정부 보증)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특이점: 레버리지·주식 완전 배제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MDD 제로의 안전망, 알파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657600" cy="2651760"/>
          </a:xfrm>
          <a:prstGeom prst="rect">
            <a:avLst/>
          </a:prstGeom>
          <a:solidFill>
            <a:srgbClr val="1A253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ThumbTack Investor (TTI)  🇸🇬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아시아 딥밸류 + 컨트래리언 집중 포트</a:t>
            </a:r>
          </a:p>
          <a:p>
            <a:pPr algn="l"/>
            <a:r>
              <a:rPr sz="1150" b="0">
                <a:solidFill>
                  <a:srgbClr val="00D48A"/>
                </a:solidFill>
                <a:latin typeface="Malgun Gothic"/>
              </a:rPr>
              <a:t>실적 투명 공개 (블로그 연간 보고)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CAGR ~23% (공개 기록)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소수 종목 집중, 리서치 집약적</a:t>
            </a:r>
          </a:p>
          <a:p>
            <a:pPr algn="l"/>
            <a:r>
              <a:rPr sz="1150" b="0">
                <a:solidFill>
                  <a:srgbClr val="FF4D6D"/>
                </a:solidFill>
                <a:latin typeface="Malgun Gothic"/>
              </a:rPr>
              <a:t>재현 어려움 (고급 리서치 필요)</a:t>
            </a:r>
          </a:p>
          <a:p>
            <a:pPr algn="l"/>
            <a:r>
              <a:rPr sz="1150" b="0">
                <a:solidFill>
                  <a:srgbClr val="FF4D6D"/>
                </a:solidFill>
                <a:latin typeface="Malgun Gothic"/>
              </a:rPr>
              <a:t>구현 난이도  ★★★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05840"/>
            <a:ext cx="3749039" cy="2651760"/>
          </a:xfrm>
          <a:prstGeom prst="rect">
            <a:avLst/>
          </a:prstGeom>
          <a:solidFill>
            <a:srgbClr val="1A253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9FFF"/>
                </a:solidFill>
                <a:latin typeface="Malgun Gothic"/>
              </a:rPr>
              <a:t>Gerd Kommer — 글로벌 팩터 ETF  🇩🇪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087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전 세계 GDP 가중 ETF + 팩터 오버웨이트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Size / Value / Quality 팩터 결합</a:t>
            </a:r>
          </a:p>
          <a:p>
            <a:pPr algn="l"/>
            <a:r>
              <a:rPr sz="1150" b="0">
                <a:solidFill>
                  <a:srgbClr val="00D48A"/>
                </a:solidFill>
                <a:latin typeface="Malgun Gothic"/>
              </a:rPr>
              <a:t>본인 ETF 출시 (Gerd Kommer ETF)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CAGR ~8~10% / MDD ~-50%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독일의 'ETF 교황'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학문적 근거 탄탄, 수익은 평범</a:t>
            </a:r>
          </a:p>
          <a:p>
            <a:pPr algn="l"/>
            <a:r>
              <a:rPr sz="1150" b="0">
                <a:solidFill>
                  <a:srgbClr val="FFD700"/>
                </a:solidFill>
                <a:latin typeface="Malgun Gothic"/>
              </a:rPr>
              <a:t>구현 난이도  ★★☆ (ETF 선택 복잡)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solidFill>
            <a:srgbClr val="1A253F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  <a:latin typeface="Malgun Gothic"/>
              </a:rPr>
              <a:t>Dragon Portfolio — Chris Cole (Artemis Capital)  🇺🇸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구성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주식 24% + 장기채 18% + 금 19%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원자재 추세추종 18% + 롱 변동성(옵션) 21%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성과 (90년 백테스트)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CAGR ~14.4%  /  MDD 극히 낮음</a:t>
            </a:r>
          </a:p>
          <a:p>
            <a:pPr algn="l"/>
            <a:r>
              <a:rPr sz="1250" b="0">
                <a:solidFill>
                  <a:srgbClr val="00D48A"/>
                </a:solidFill>
                <a:latin typeface="Malgun Gothic"/>
              </a:rPr>
              <a:t>  2022년 인플레이션 환경 방어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343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핵심 아이디어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'어떤 경제 환경에도 1/5씩 작동하는 자산 배분'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주식↑: 성장기  /  채권↑: 디플레  /  금↑: 인플레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롱 변동성↑: 위기  /  원자재↑: 원자재 슈퍼사이클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⚠ 롱 변동성(옵션) 파트 → 개인 구현 매우 어려움</a:t>
            </a:r>
          </a:p>
          <a:p>
            <a:pPr algn="l"/>
            <a:r>
              <a:rPr sz="1250" b="0">
                <a:solidFill>
                  <a:srgbClr val="FF4D6D"/>
                </a:solidFill>
                <a:latin typeface="Malgun Gothic"/>
              </a:rPr>
              <a:t>  구현 난이도  ★★★ (전문 투자자 수준)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종합 비교표 — 전략별 성과 &amp;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1371600"/>
                <a:gridCol w="155448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CAGR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구현 난이도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약점</a:t>
                      </a:r>
                    </a:p>
                  </a:txBody>
                  <a:tcPr>
                    <a:solidFill>
                      <a:srgbClr val="15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BATA A4 BIL10% (본인 전략)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29.1%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-37.4%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레버리지 고수익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MDD 높음</a:t>
                      </a:r>
                    </a:p>
                  </a:txBody>
                  <a:tcPr>
                    <a:solidFill>
                      <a:srgbClr val="1028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BATA A BIL10% (본인 전략)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23.9%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-29.7%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MDD-수익 균형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수익 제한</a:t>
                      </a:r>
                    </a:p>
                  </a:txBody>
                  <a:tcPr>
                    <a:solidFill>
                      <a:srgbClr val="0A1E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FnG RSI-only (기준선)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48.1%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-48.9%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폭발적 수익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MDD 크고 변동 심함</a:t>
                      </a:r>
                    </a:p>
                  </a:txBody>
                  <a:tcPr>
                    <a:solidFill>
                      <a:srgbClr val="1C1C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VAA/BAA (강환국)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~20%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-13~15%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MDD 최우수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수익 낮음</a:t>
                      </a:r>
                    </a:p>
                  </a:txBody>
                  <a:tcPr>
                    <a:solidFill>
                      <a:srgbClr val="1A2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Dual Momentum GEM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~17%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-22%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하락장 방어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상승장 수익 제한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HFEA (Hedgefundie)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~25%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-70%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금리하락기 폭발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금리상승기 괴멸</a:t>
                      </a:r>
                    </a:p>
                  </a:txBody>
                  <a:tcPr>
                    <a:solidFill>
                      <a:srgbClr val="28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강환국 퀀트 팩터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~33%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-53%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고CAGR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MDD 큼·국내주식 한정</a:t>
                      </a:r>
                    </a:p>
                  </a:txBody>
                  <a:tcPr>
                    <a:solidFill>
                      <a:srgbClr val="201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たぱぞう DCA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~8~10%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-50%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완전 자동화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시장 평균 수준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Dragon Portfolio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~14.4%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-극소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어떤 환경도 방어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롱 변동성 구현 어려움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Gerd Kommer ETF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~8~10%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-50%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D700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학문적 근거 탄탄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알파 미약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0BAD0"/>
                          </a:solidFill>
                          <a:latin typeface="Malgun Gothic"/>
                        </a:rPr>
                        <a:t>バフェット太郎 배당주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88AAA"/>
                          </a:solidFill>
                          <a:latin typeface="Malgun Gothic"/>
                        </a:rPr>
                        <a:t>~12~13%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-40%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D48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E5FF"/>
                          </a:solidFill>
                          <a:latin typeface="Malgun Gothic"/>
                        </a:rPr>
                        <a:t>배당 현금흐름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4D6D"/>
                          </a:solidFill>
                          <a:latin typeface="Malgun Gothic"/>
                        </a:rPr>
                        <a:t>S&amp;P500 언더퍼폼</a:t>
                      </a:r>
                    </a:p>
                  </a:txBody>
                  <a:tcPr>
                    <a:solidFill>
                      <a:srgbClr val="1014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10  결론 — BATA 전략의 포지셔닝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132320" cy="5303520"/>
          </a:xfrm>
          <a:prstGeom prst="rect">
            <a:avLst/>
          </a:prstGeom>
          <a:solidFill>
            <a:srgbClr val="1A253F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Malgun Gothic"/>
              </a:rPr>
              <a:t>BATA 전략의 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① 레버리지 전략 중 가장 합리적인 MDD 관리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HFEA -70% 대비 A BIL -29.7% 압도적 개선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 TMF를 BIL로 교체한 결정이 핵심 차별화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② RSI 신호 기반 자동화 규칙 — 감정 배제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주관적 판단 없이 크로스 신호만으로 진출입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백테스트 재현 가능, 투명한 로직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③ CAGR 29.1% — 레버리지 없는 전략 대비 우수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VAA/BAA CAGR 20%, GEM 17% 대비 1.5~2배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④ MDD 개선 여지 존재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분할 비율 조정 (60/10/10/10/10 선택 시 -29.7%)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BIL 비율 상향 (15~20%) 검토 가능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⑤ '수익률 30%+, MDD -15%'는 이론상 불가능 영역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 전략의 근본적 트레이드오프 — 수익 ↔ MDD</a:t>
            </a:r>
          </a:p>
          <a:p>
            <a:pPr algn="l"/>
            <a:r>
              <a:rPr sz="1250" b="0">
                <a:solidFill>
                  <a:srgbClr val="FFD700"/>
                </a:solidFill>
                <a:latin typeface="Malgun Gothic"/>
              </a:rPr>
              <a:t>   BATA는 이 트레이드오프 내 최적점 탐색 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005840"/>
            <a:ext cx="4114800" cy="2743200"/>
          </a:xfrm>
          <a:prstGeom prst="rect">
            <a:avLst/>
          </a:prstGeom>
          <a:solidFill>
            <a:srgbClr val="1A253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051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Malgun Gothic"/>
              </a:rPr>
              <a:t>포지셔닝 맵 (CAGR vs MDD)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4D6D"/>
                </a:solidFill>
                <a:latin typeface="Malgun Gothic"/>
              </a:rPr>
              <a:t>고수익·고MDD 구간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FnG +743% / BATA A4 +301% / 한국퀀트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E5FF"/>
                </a:solidFill>
                <a:latin typeface="Malgun Gothic"/>
              </a:rPr>
              <a:t>중수익·중MDD 구간 ← BATA A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BATA A BIL +220% / HFEA / バ太郎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00D48A"/>
                </a:solidFill>
                <a:latin typeface="Malgun Gothic"/>
              </a:rPr>
              <a:t>중수익·저MDD 구간 (이상적)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  VAA/BAA, GEM, Dragon Portfolio</a:t>
            </a:r>
          </a:p>
          <a:p>
            <a:pPr algn="l"/>
            <a:r>
              <a:rPr sz="1250" b="0">
                <a:solidFill>
                  <a:srgbClr val="788AAA"/>
                </a:solidFill>
                <a:latin typeface="Malgun Gothic"/>
              </a:rPr>
              <a:t>  → 레버리지 없이 달성 가능한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886200"/>
            <a:ext cx="4114800" cy="242316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FFF"/>
                </a:solidFill>
                <a:latin typeface="Malgun Gothic"/>
              </a:rPr>
              <a:t>다음 연구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3891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• BIL 비율 최적화 (10→15→20%)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• VAA 모멘텀 + RSI 신호 결합 실험</a:t>
            </a:r>
          </a:p>
          <a:p>
            <a:pPr algn="l"/>
            <a:r>
              <a:rPr sz="1250" b="0">
                <a:solidFill>
                  <a:srgbClr val="B0BAD0"/>
                </a:solidFill>
                <a:latin typeface="Malgun Gothic"/>
              </a:rPr>
              <a:t>• MDD -25% 이하 달성 파라미터 탐색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50" b="1">
                <a:solidFill>
                  <a:srgbClr val="FFD700"/>
                </a:solidFill>
                <a:latin typeface="Malgun Gothic"/>
              </a:rPr>
              <a:t>목표: CAGR 25%+ / MDD -25% 이하</a:t>
            </a:r>
          </a:p>
          <a:p>
            <a:pPr algn="l"/>
            <a:r>
              <a:rPr sz="1250" b="0">
                <a:solidFill>
                  <a:srgbClr val="FFD700"/>
                </a:solidFill>
                <a:latin typeface="Malgun Gothic"/>
              </a:rPr>
              <a:t>= 전 세계 최고 수준의 개인투자 전략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TQQQ 단일 종목 — 룰 기반 전략 9종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7455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AAA"/>
                </a:solidFill>
                <a:latin typeface="Malgun Gothic"/>
              </a:rPr>
              <a:t>초기자금 $10,000 · 슬리피지·세금 미반영 · 2011-01-03 ~ 2024-12-30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51560"/>
          <a:ext cx="1164031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188720"/>
                <a:gridCol w="1188720"/>
                <a:gridCol w="1188720"/>
                <a:gridCol w="2770632"/>
              </a:tblGrid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2011~24 총수익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2021~24 총수익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CAGR(전체)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MDD(전체)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Sharpe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전략 핵심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S0. TQQQ Buy &amp; Hold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10,391%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 +93.8%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39.5%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-81.7%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0.86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TQQQ 무조건 보유 (기준선)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S1. SMA200 트렌드추종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6,641%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+281.7%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35.1%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-55.6%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QQQ&gt;SMA200 → TQQQ / 하락 → BIL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S2. SMA200 + RSI(2)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1,293%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+167.8%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20.7%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-62.0%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SMA200 위에서만 RSI 신호 적용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S3. 절대 모멘텀(12M)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1,710%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+68.0%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23.0%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-77.0%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월말 12M 수익률&gt;0 → TQQQ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S4. VAA 라이트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3,734%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+246.3%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29.8%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-72.1%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TQQQ/QLD/QQQ 모멘텀 점수 최강 자산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S5. RSI(2) 분할매수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   997%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+21.2%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18.7%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-64.5%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1.05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4-lot 분할진입 / RSI&gt;80 일괄청산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S6. 골든/데드크로스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D700"/>
                          </a:solidFill>
                          <a:latin typeface="Malgun Gothic"/>
                        </a:rPr>
                        <a:t>11,287%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+394.7%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40.3%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-69.9%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0.93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SMA50&gt;SMA200 → TQQQ / 역전 → BIL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D700"/>
                          </a:solidFill>
                          <a:latin typeface="Malgun Gothic"/>
                        </a:rPr>
                        <a:t>S7. FnG+RSI(2) ★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D48A"/>
                          </a:solidFill>
                          <a:latin typeface="Malgun Gothic"/>
                        </a:rPr>
                        <a:t> 4,257%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D48A"/>
                          </a:solidFill>
                          <a:latin typeface="Malgun Gothic"/>
                        </a:rPr>
                        <a:t>+684.8%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31.0%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-67.2%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RSI 크로스다운15 매수 / 크로스업75 매도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S8. 골든크로스+FnG ★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1,686%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+252.2%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22.9%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-67.2%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788AAA"/>
                          </a:solidFill>
                          <a:latin typeface="Malgun Gothic"/>
                        </a:rPr>
                        <a:t>골든크로스 진입허가 + RSI 타이밍 결합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  <a:latin typeface="Malgun Gothic"/>
              </a:rPr>
              <a:t>★ S7 = 현재 BATA 서비스 중인 FnG+RSI(2) 전략  |  S8 = 이번 연구에서 새로 실험한 결합 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기간별 성과 비교: 2011~2024 (14년)  vs  2021~2024 (4년)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7455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577840" cy="384048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95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📅  2011~2024 (14년 전체)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88720"/>
          <a:ext cx="55778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82296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총수익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CAGR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Sharpe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S0. TQQQ Buy&amp;Hold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10,391%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39.5%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-81.7%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0.86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S1. SMA200 트렌드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6,641%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35.1%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-55.6%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S2. SMA200+RSI(2)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1,293%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20.7%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-62.0%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S3. 절대모멘텀12M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1,710%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23.0%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-77.0%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S4. VAA 라이트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3,734%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29.8%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-72.1%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S5. RSI(2)분할매수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   997%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18.7%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-64.5%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1.05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S6. 골든/데드크로스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11,287%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40.3%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-69.9%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0.93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S7. FnG+RSI(2) ★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4,257%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31.0%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-67.2%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S8. 골든크로스+FnG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1,686%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22.9%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-67.2%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26480" y="777240"/>
            <a:ext cx="5760720" cy="384048"/>
          </a:xfrm>
          <a:prstGeom prst="rect">
            <a:avLst/>
          </a:prstGeom>
          <a:solidFill>
            <a:srgbClr val="00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7955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📅  2021~2024 (최근 4년)  ← 시장 격동기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1188720"/>
          <a:ext cx="5760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914400"/>
                <a:gridCol w="914400"/>
                <a:gridCol w="9144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003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총수익</a:t>
                      </a:r>
                    </a:p>
                  </a:txBody>
                  <a:tcPr>
                    <a:solidFill>
                      <a:srgbClr val="003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CAGR</a:t>
                      </a:r>
                    </a:p>
                  </a:txBody>
                  <a:tcPr>
                    <a:solidFill>
                      <a:srgbClr val="003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>
                    <a:solidFill>
                      <a:srgbClr val="003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Sharpe</a:t>
                      </a:r>
                    </a:p>
                  </a:txBody>
                  <a:tcPr>
                    <a:solidFill>
                      <a:srgbClr val="003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S0. TQQQ Buy&amp;Hold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+93.8%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18.1%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-81.7%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0.58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S1. SMA200 트렌드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+281.7%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39.9%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-52.3%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S2. SMA200+RSI(2)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+167.8%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28.0%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-39.2%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S3. 절대모멘텀12M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+68.0%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13.9%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-69.6%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S4. VAA 라이트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+246.3%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36.6%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-49.0%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S5. RSI(2)분할매수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 +21.2%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4.9%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-29.0%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0.43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S6. 골든/데드크로스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+394.7%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49.3%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-49.0%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1.08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D700"/>
                          </a:solidFill>
                          <a:latin typeface="Malgun Gothic"/>
                        </a:rPr>
                        <a:t>S7. FnG+RSI(2) ★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+684.8%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67.7%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-30.3%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D700"/>
                          </a:solidFill>
                          <a:latin typeface="Malgun Gothic"/>
                        </a:rPr>
                        <a:t>1.37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S8. 골든크로스+FnG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+252.2%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37.1%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4D6D"/>
                          </a:solidFill>
                          <a:latin typeface="Malgun Gothic"/>
                        </a:rPr>
                        <a:t>-28.4%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0BAD0"/>
                          </a:solidFill>
                          <a:latin typeface="Malgun Gothic"/>
                        </a:rPr>
                        <a:t>1.16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4465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Malgun Gothic"/>
              </a:rPr>
              <a:t>▶  최근 4년 1위: S7 FnG+RSI(2)  CAGR 67.7% / MDD -30.3% / Sharpe 1.37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S6 vs S7 vs S8 집중 비교  —  골든크로스 필터 + FnG RSI 결합 실험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7455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3840480" cy="173736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50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Malgun Gothic"/>
              </a:rPr>
              <a:t>S6. 골든/데드크로스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Malgun Gothic"/>
              </a:rPr>
              <a:t>QQQ SMA50 &gt; SMA200 → TQQQ
SMA50 &lt; SMA200 → BIL
• 시장 추세 순응 전략
• 연 1~3회 전환, 장기 보유
• 2022년 하락 방어: -37.9%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9191"/>
            <a:ext cx="3840480" cy="1737360"/>
          </a:xfrm>
          <a:prstGeom prst="rect">
            <a:avLst/>
          </a:prstGeom>
          <a:solidFill>
            <a:srgbClr val="1A253F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72491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  <a:latin typeface="Malgun Gothic"/>
              </a:rPr>
              <a:t>S7. FnG+RSI(2)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39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Malgun Gothic"/>
              </a:rPr>
              <a:t>RSI(2) 크로스다운 15 → 전량 매수
RSI(2) 크로스업 75 → 전량 매도
• 추세 무관, 단기 과매도 포착
• 2022년 하락장에서 +61.3% !
• 최근 4년 Sharpe 1.37 압도적 1위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53710"/>
            <a:ext cx="3840480" cy="1737360"/>
          </a:xfrm>
          <a:prstGeom prst="rect">
            <a:avLst/>
          </a:prstGeom>
          <a:solidFill>
            <a:srgbClr val="1A253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59943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Malgun Gothic"/>
              </a:rPr>
              <a:t>S8. 골든크로스+FnG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58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Malgun Gothic"/>
              </a:rPr>
              <a:t>골든크로스 중에만 RSI 진입 허가
데드크로스 또는 RSI&gt;75 → 청산
• S6 진입필터 + S7 타이밍 결합
• 2022년 데드크로스로 진입 차단
• MDD -28.4% (3개 중 최저)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777240"/>
            <a:ext cx="7498079" cy="1005840"/>
          </a:xfrm>
          <a:prstGeom prst="rect">
            <a:avLst/>
          </a:prstGeom>
          <a:solidFill>
            <a:srgbClr val="1A253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804672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D700"/>
                </a:solidFill>
                <a:latin typeface="Malgun Gothic"/>
              </a:rPr>
              <a:t>기간               S6 골든크로스     S7 FnG+RSI(2)★    S8 골든크로스+FnG</a:t>
            </a:r>
          </a:p>
          <a:p>
            <a:pPr algn="l"/>
            <a:r>
              <a:rPr sz="1050" b="0">
                <a:solidFill>
                  <a:srgbClr val="B0BAD0"/>
                </a:solidFill>
                <a:latin typeface="Malgun Gothic"/>
              </a:rPr>
              <a:t>2011~2024  수익  11,287% / CAGR 40.3%   4,257% / 31.0%   1,686% / 22.9%</a:t>
            </a:r>
          </a:p>
          <a:p>
            <a:pPr algn="l"/>
            <a:r>
              <a:rPr sz="1050" b="0">
                <a:solidFill>
                  <a:srgbClr val="B0BAD0"/>
                </a:solidFill>
                <a:latin typeface="Malgun Gothic"/>
              </a:rPr>
              <a:t>2021~2024  수익    +394.7% / CAGR 49.3%  +684.8% / 67.7%  +252.2% / 37.1%</a:t>
            </a:r>
          </a:p>
          <a:p>
            <a:pPr algn="l"/>
            <a:r>
              <a:rPr sz="1050" b="0">
                <a:solidFill>
                  <a:srgbClr val="00E5FF"/>
                </a:solidFill>
                <a:latin typeface="Malgun Gothic"/>
              </a:rPr>
              <a:t>MDD (최근4년)          -49.0%               -30.3% ◀      -28.4% 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389120" y="1828800"/>
          <a:ext cx="74980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194560"/>
                <a:gridCol w="2286000"/>
              </a:tblGrid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E5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E5FF"/>
                          </a:solidFill>
                          <a:latin typeface="Malgun Gothic"/>
                        </a:rPr>
                        <a:t>S6 골든크로스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E5FF"/>
                          </a:solidFill>
                          <a:latin typeface="Malgun Gothic"/>
                        </a:rPr>
                        <a:t>S7 FnG+RSI(2)★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E5FF"/>
                          </a:solidFill>
                          <a:latin typeface="Malgun Gothic"/>
                        </a:rPr>
                        <a:t>S8 결합전략</a:t>
                      </a:r>
                    </a:p>
                  </a:txBody>
                  <a:tcPr>
                    <a:solidFill>
                      <a:srgbClr val="003870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2011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  -7.0%▼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+20.9%▲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 -0.8%▼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2012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+51.4%▲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+43.3%▲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+42.7%▲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2013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+119.4%▲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+83.6%▲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+83.6%▲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2014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+60.8%▲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 +9.6%▲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 +9.6%▲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2015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 -4.8%▼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+26.7%▲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+26.9%▲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2016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 -8.3%▼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+17.5%▲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+18.2%▲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2017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+112.9%▲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+50.8%▲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+50.8%▲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2018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 -2.3%▼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-23.7%▼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-10.6%▼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2019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+47.9%▲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+24.6%▲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+17.9%▲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2020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+66.1%▲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-30.2%▼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-30.2%▼</a:t>
                      </a:r>
                    </a:p>
                  </a:txBody>
                  <a:tcPr>
                    <a:solidFill>
                      <a:srgbClr val="0D1E36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2021 ←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+91.3%▲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+47.5%▲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+47.5%▲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2022 ←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-37.9%▼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+61.3%▲ ★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4D6D"/>
                          </a:solidFill>
                          <a:latin typeface="Malgun Gothic"/>
                        </a:rPr>
                        <a:t>-14.6%▼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0BAD0"/>
                          </a:solidFill>
                          <a:latin typeface="Malgun Gothic"/>
                        </a:rPr>
                        <a:t>2023 ←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D48A"/>
                          </a:solidFill>
                          <a:latin typeface="Malgun Gothic"/>
                        </a:rPr>
                        <a:t>+148.8%▲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D700"/>
                          </a:solidFill>
                          <a:latin typeface="Malgun Gothic"/>
                        </a:rPr>
                        <a:t>+76.4%▲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D48A"/>
                          </a:solidFill>
                          <a:latin typeface="Malgun Gothic"/>
                        </a:rPr>
                        <a:t>+46.2%▲</a:t>
                      </a:r>
                    </a:p>
                  </a:txBody>
                  <a:tcPr>
                    <a:solidFill>
                      <a:srgbClr val="002A1A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0BAD0"/>
                          </a:solidFill>
                          <a:latin typeface="Malgun Gothic"/>
                        </a:rPr>
                        <a:t>2024 ←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+71.2%▲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+91.2%▲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D48A"/>
                          </a:solidFill>
                          <a:latin typeface="Malgun Gothic"/>
                        </a:rPr>
                        <a:t>+91.2%▲</a:t>
                      </a:r>
                    </a:p>
                  </a:txBody>
                  <a:tcPr>
                    <a:solidFill>
                      <a:srgbClr val="142A1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389120" y="64922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Malgun Gothic"/>
              </a:rPr>
              <a:t>← 최근 4년 구간  |  ★ 2022년 하락장에서 S7만 +61.3% 달성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FnG+RSI(2) 알고리즘 타당성 검증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7455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Malgun Gothic"/>
              </a:rPr>
              <a:t>✅  알고리즘 타당성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6949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D700"/>
                </a:solidFill>
                <a:latin typeface="Malgun Gothic"/>
              </a:rPr>
              <a:t>① 최근 4년 (2021~2024) 모든 지표 1위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   총수익 +684.8%  |  CAGR 67.7%  |  MDD -30.3%  |  Sharpe 1.37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   9개 룰 기반 전략 중 압도적 1위 — 단순 운이 아닌 구조적 우위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150" b="1">
                <a:solidFill>
                  <a:srgbClr val="FFD700"/>
                </a:solidFill>
                <a:latin typeface="Malgun Gothic"/>
              </a:rPr>
              <a:t>② 하락장(2022년)에서 유일하게 수익 달성</a:t>
            </a:r>
          </a:p>
          <a:p>
            <a:pPr algn="l"/>
            <a:r>
              <a:rPr sz="1150" b="0">
                <a:solidFill>
                  <a:srgbClr val="00D48A"/>
                </a:solidFill>
                <a:latin typeface="Malgun Gothic"/>
              </a:rPr>
              <a:t>   S7: +61.3%  vs  S6: -37.9%  vs  TQQQ Buy&amp;Hold: -79.7%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   FnG/공포지수 활용으로 하락장 단기 바운스 포착 가능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   골든/데드크로스 필터 없이도 자체적으로 리스크 관리됨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150" b="1">
                <a:solidFill>
                  <a:srgbClr val="FFD700"/>
                </a:solidFill>
                <a:latin typeface="Malgun Gothic"/>
              </a:rPr>
              <a:t>③ 골든크로스 결합(S8) 실험 결과: 오히려 성과 저하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   S8: +252.2%  &lt;  S7: +684.8%  (최근 4년 기준)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   2022년 하락장 수익 기회를 데드크로스 필터가 차단</a:t>
            </a:r>
          </a:p>
          <a:p>
            <a:pPr algn="l"/>
            <a:r>
              <a:rPr sz="1150" b="0">
                <a:solidFill>
                  <a:srgbClr val="00E5FF"/>
                </a:solidFill>
                <a:latin typeface="Malgun Gothic"/>
              </a:rPr>
              <a:t>   → RSI(2) 신호 자체가 이미 최적의 진입/청산 타이밍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150" b="1">
                <a:solidFill>
                  <a:srgbClr val="FFD700"/>
                </a:solidFill>
                <a:latin typeface="Malgun Gothic"/>
              </a:rPr>
              <a:t>④ 14년 누적 검증 (2011~2024 백테스트)</a:t>
            </a:r>
          </a:p>
          <a:p>
            <a:pPr algn="l"/>
            <a:r>
              <a:rPr sz="1150" b="0">
                <a:solidFill>
                  <a:srgbClr val="B0BAD0"/>
                </a:solidFill>
                <a:latin typeface="Malgun Gothic"/>
              </a:rPr>
              <a:t>   CAGR 31.0% / MDD -67.2% / Sharpe 0.85</a:t>
            </a:r>
          </a:p>
          <a:p>
            <a:pPr algn="l"/>
            <a:r>
              <a:rPr sz="1150" b="0">
                <a:solidFill>
                  <a:srgbClr val="788AAA"/>
                </a:solidFill>
                <a:latin typeface="Malgun Gothic"/>
              </a:rPr>
              <a:t>   단기 노이즈가 아닌 장기 구조적 알고리즘 신뢰성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777240"/>
            <a:ext cx="4297680" cy="2834640"/>
          </a:xfrm>
          <a:prstGeom prst="rect">
            <a:avLst/>
          </a:prstGeom>
          <a:solidFill>
            <a:srgbClr val="002A1A"/>
          </a:solidFill>
          <a:ln w="2540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822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FnG+RSI(2) 최근 4년 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98448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algun Gothic"/>
              </a:rPr>
              <a:t>총수익         +684.8%</a:t>
            </a:r>
          </a:p>
          <a:p>
            <a:pPr algn="l"/>
            <a:r>
              <a:rPr sz="1400" b="1">
                <a:solidFill>
                  <a:srgbClr val="FFD700"/>
                </a:solidFill>
                <a:latin typeface="Malgun Gothic"/>
              </a:rPr>
              <a:t>CAGR            67.7%</a:t>
            </a:r>
          </a:p>
          <a:p>
            <a:pPr algn="l"/>
            <a:r>
              <a:rPr sz="1400" b="1">
                <a:solidFill>
                  <a:srgbClr val="00E5FF"/>
                </a:solidFill>
                <a:latin typeface="Malgun Gothic"/>
              </a:rPr>
              <a:t>MDD            -30.3%</a:t>
            </a:r>
          </a:p>
          <a:p>
            <a:pPr algn="l"/>
            <a:r>
              <a:rPr sz="1400" b="1">
                <a:solidFill>
                  <a:srgbClr val="00E5FF"/>
                </a:solidFill>
                <a:latin typeface="Malgun Gothic"/>
              </a:rPr>
              <a:t>Sharpe           1.37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$10,000 → $78,481</a:t>
            </a:r>
          </a:p>
          <a:p>
            <a:pPr algn="l"/>
            <a:r>
              <a:rPr sz="1400" b="0">
                <a:solidFill>
                  <a:srgbClr val="B0BAD0"/>
                </a:solidFill>
                <a:latin typeface="Malgun Gothic"/>
              </a:rPr>
              <a:t>(4년, 7.8배 성장)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749039"/>
            <a:ext cx="4297680" cy="2926080"/>
          </a:xfrm>
          <a:prstGeom prst="rect">
            <a:avLst/>
          </a:prstGeom>
          <a:solidFill>
            <a:srgbClr val="1A253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algun Gothic"/>
              </a:rPr>
              <a:t>종합 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25196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AD0"/>
                </a:solidFill>
                <a:latin typeface="Malgun Gothic"/>
              </a:rPr>
              <a:t>TQQQ 단일 종목 투자 기준으로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FnG+RSI(2) 전략이 최적 알고리즘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B0BAD0"/>
                </a:solidFill>
                <a:latin typeface="Malgun Gothic"/>
              </a:rPr>
              <a:t>• 장기(14년) 검증된 구조적 우위</a:t>
            </a:r>
          </a:p>
          <a:p>
            <a:pPr algn="l"/>
            <a:r>
              <a:rPr sz="1200" b="0">
                <a:solidFill>
                  <a:srgbClr val="B0BAD0"/>
                </a:solidFill>
                <a:latin typeface="Malgun Gothic"/>
              </a:rPr>
              <a:t>• 하락장 방어 + 상승장 참여 동시 달성</a:t>
            </a:r>
          </a:p>
          <a:p>
            <a:pPr algn="l"/>
            <a:r>
              <a:rPr sz="1200" b="0">
                <a:solidFill>
                  <a:srgbClr val="B0BAD0"/>
                </a:solidFill>
                <a:latin typeface="Malgun Gothic"/>
              </a:rPr>
              <a:t>• 어떤 추세 필터보다 RSI 자체 신호가 강력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200" b="1">
                <a:solidFill>
                  <a:srgbClr val="00D48A"/>
                </a:solidFill>
                <a:latin typeface="Malgun Gothic"/>
              </a:rPr>
              <a:t>현재 BATA 서비스로 실전 운용 중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