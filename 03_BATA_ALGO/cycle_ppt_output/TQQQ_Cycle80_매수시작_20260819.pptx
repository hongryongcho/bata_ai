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안녕하세요, BATA 채널입니다. 본 영상은 BATAGOTA 알고리즘 교육 목적으로 제작되었으며, 투자 권유가 아닙니다.</a:t>
            </a:r>
          </a:p>
          <a:p/>
          <a:p>
            <a:r>
              <a:t>오늘은 TQQQ 매수 신호 발생 보고서를 안내합니다. 화면의 사이클 번호는 몇 번째 매매 사이클인지를 나타내고, YTD 수익률은 이전 사이클까지의 올해 백테스트 누적 성과입니다.</a:t>
            </a:r>
          </a:p>
          <a:p/>
          <a:p>
            <a:r>
              <a:t>BATAGOTA 알고리즘은 RSI 2일과 CNN 공포탐욕지수를 결합한 단기 과매도 역추세 전략입니다. 장 마감 후 15분 뒤 종가가 확정되면 이 보고서가 자동으로 발행됩니다.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이번 사이클의 핵심 지표 요약입니다.</a:t>
            </a:r>
          </a:p>
          <a:p/>
          <a:p>
            <a:r>
              <a:t>상단 4개 박스에서 수익률, 보유기간, 매수가를 확인합니다. 매도가와 정산금액은 아직 진행 중이라 확정되지 않았습니다.</a:t>
            </a:r>
          </a:p>
          <a:p/>
          <a:p>
            <a:r>
              <a:t>하단에서 매수 시점의 RSI 2일 값과 CNN 공포탐욕지수를 확인할 수 있습니다. TQQQ는 RSI 15 이하, SOXL은 RSI 15 이하에서 매수 신호가 발생하며, 공포탐욕지수 75 이상 탐욕 구간에서는 매수를 보류합니다. 정산금액은 연초 10만 달러 복리 시뮬레이션이며 수수료와 세금은 미포함입니다.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매수 신호 발생 전후 7거래일 데이터입니다.</a:t>
            </a:r>
          </a:p>
          <a:p/>
          <a:p>
            <a:r>
              <a:t>초록색으로 강조된 행이 실제 매수 신호 발생일입니다. RSI 2일 값이 임계값 이하로 내려온 것을 확인할 수 있습니다. 매매 기준가는 전일 종가를 기준으로 역산한 LOC 지정가입니다.</a:t>
            </a:r>
          </a:p>
          <a:p/>
          <a:p>
            <a:r>
              <a:t>LOC는 Limit on Close의 약자로, 장 마감 직전 지정가 주문을 통해 종가에 최대한 가깝게 체결하는 방식입니다. 액션 컬럼에 F&amp;G 차단이 표시된 날은 공포탐욕지수 필터로 신호가 보류된 것입니다. 보류가 해제되고 RSI 조건이 충족된 시점에 매수가 진행됩니다.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매수일부터 매도일까지 보유 기간 전체의 일별 데이터입니다.</a:t>
            </a:r>
          </a:p>
          <a:p/>
          <a:p>
            <a:r>
              <a:t>각 거래일의 종가, RSI 2일, CNN 공포탐욕지수 변화를 추적할 수 있습니다. 보유 기간이 18거래일을 초과하면 중간 구간은 요약 처리됩니다.</a:t>
            </a:r>
          </a:p>
          <a:p/>
          <a:p>
            <a:r>
              <a:t>초록색 BUY 행은 매수일, 빨간색 SELL 행은 매도 신호 발생일입니다. 차단 컬럼에 내용이 있으면 그날 공포탐욕지수 필터로 신호가 보류된 것입니다. RSI가 매도 임계값에 도달할 때까지 포지션을 유지하는 전체 과정을 확인할 수 있습니다. 매수 후에는 RSI 매도 임계값 도달 예상 가격을 미리 계산해 LOC 매도 주문을 설정해 두는 것이 권장됩니다.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올해 전체 또는 최근 사이클 결과 요약입니다.</a:t>
            </a:r>
          </a:p>
          <a:p/>
          <a:p>
            <a:r>
              <a:t>각 사이클의 매수일, 매수가, 매수 시 RSI와 공포탐욕지수, 매도일, 보유기간, 수익률을 한 테이블에서 확인합니다. 초록색은 수익, 빨간색은 손실 사이클입니다.</a:t>
            </a:r>
          </a:p>
          <a:p/>
          <a:p>
            <a:r>
              <a:t>정산금액은 연초 10만 달러에서 각 사이클 수익률을 복리 누적 적용한 가상 시뮬레이션 결과입니다. 여러 사이클을 통해 알고리즘이 시장의 과매도 구간을 어떻게 반복 포착하는지 패턴을 확인할 수 있습니다. 소수점 거래 기준이며 수수료와 세금은 포함되지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BATAGOTA 알고리즘의 핵심 지표 3가지와 연도별 백테스트 수익률입니다.</a:t>
            </a:r>
          </a:p>
          <a:p/>
          <a:p>
            <a:r>
              <a:t>첫째, RSI 2일은 2일 종가 변화를 Wilder 지수평활법으로 0에서 100으로 환산한 단기 과매도 지표입니다. 15 이하이면 극도의 과매도, 75 이상이면 과매수 상태로 매매 신호가 발생합니다.</a:t>
            </a:r>
          </a:p>
          <a:p/>
          <a:p>
            <a:r>
              <a:t>둘째, CNN 공포탐욕지수는 시장 모멘텀, 주가강도, VIX 변동성 등 7가지 지표를 종합해 0에서 100으로 시장 심리를 수치화합니다. 단순 RSI만 사용하면 탐욕 구간에서 오신호가 발생할 수 있어 이 필터를 추가했습니다.</a:t>
            </a:r>
          </a:p>
          <a:p/>
          <a:p>
            <a:r>
              <a:t>셋째, MDD 최대낙폭은 투자 기간 중 최고 자산 대비 최대 손실률입니다. 낮을수록 전략이 안정적이며, 이 알고리즘의 핵심 강점 중 하나입니다.</a:t>
            </a:r>
          </a:p>
          <a:p/>
          <a:p>
            <a:r>
              <a:t>오른쪽 테이블에서 연도별 사이클 횟수, 연간 수익률, MDD를 확인할 수 있습니다. 단순 Buy&amp;Hold 전략 대비 이 알고리즘은 하락 구간을 현금으로 피하며 MDD를 낮추는 것이 핵심 강점입니다.</a:t>
            </a:r>
          </a:p>
          <a:p/>
          <a:p>
            <a:r>
              <a:t>향후 실전 운용 시 할 일: 매수 신호 발생 후 RSI 매도 임계값 도달 예상 가격을 계산해 LOC 매도 주문을 미리 설정합니다. 매도 완료 후에는 다음 매수 RSI 임계값 도달 가격을 모니터링해 LOC 매수를 준비합니다.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최근 12개월 백테스트 차트입니다.</a:t>
            </a:r>
          </a:p>
          <a:p/>
          <a:p>
            <a:r>
              <a:t>파란 선은 TQQQ 실제 주가 움직임, 금색 선은 알고리즘 적용 시 누적 자산가치입니다. 초록 음영은 수익 보유 구간, 빨간 음영은 손실 보유 구간입니다.</a:t>
            </a:r>
          </a:p>
          <a:p/>
          <a:p>
            <a:r>
              <a:t>주가가 크게 하락하는 구간에서 알고리즘이 현금을 보유해 손실을 줄이고, 반등 초기 과매도 구간에서 재진입하는 패턴이 이 전략의 핵심입니다. 이 차트는 수수료와 세금 미포함 기준이며 참고용 시뮬레이션입니다.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마지막으로 중요한 안내입니다.</a:t>
            </a:r>
          </a:p>
          <a:p/>
          <a:p>
            <a:r>
              <a:t>본 영상과 자료는 BATAGOTA 알고리즘 교육 목적으로만 제작되었습니다. 투자 권유나 투자 자문이 아닙니다. 레버리지 ETF인 TQQQ와 SOXL은 단기 변동성이 매우 크며 장기 보유 시 자산이 감소할 수 있습니다. 과거 백테스트 결과가 미래 수익을 보장하지 않으며, 모든 투자 결정은 본인 판단과 책임 하에 이루어져야 합니다.</a:t>
            </a:r>
          </a:p>
          <a:p/>
          <a:p>
            <a:r>
              <a:t>시청해 주셔서 감사합니다. BATA 채널이었습니다.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73152" cy="667512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338560" cy="4389120"/>
          </a:xfrm>
          <a:prstGeom prst="rect">
            <a:avLst/>
          </a:prstGeom>
          <a:solidFill>
            <a:srgbClr val="2A3C64"/>
          </a:solidFill>
          <a:ln w="1905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D700"/>
                </a:solidFill>
                <a:latin typeface="Malgun Gothic"/>
              </a:rPr>
              <a:t>TQQQ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600200"/>
            <a:ext cx="2743200" cy="5029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6002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0F4FF"/>
                </a:solidFill>
                <a:latin typeface="Malgun Gothic"/>
              </a:rPr>
              <a:t>매수시작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F4FF"/>
                </a:solidFill>
                <a:latin typeface="Malgun Gothic"/>
              </a:rPr>
              <a:t>Cycle #80  ·  26-8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34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0F4FF"/>
                </a:solidFill>
                <a:latin typeface="Malgun Gothic"/>
              </a:rPr>
              <a:t>RSI(2) + Fear &amp; Greed 전략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0CAE0"/>
                </a:solidFill>
                <a:latin typeface="Malgun Gothic"/>
              </a:rPr>
              <a:t>매수: 2026-08-18  →  매도: 진행중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4297680"/>
            <a:ext cx="3383280" cy="7315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42976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0F4FF"/>
                </a:solidFill>
                <a:latin typeface="Malgun Gothic"/>
              </a:rPr>
              <a:t>이 사이클  +874.99%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34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89EBC"/>
                </a:solidFill>
                <a:latin typeface="Malgun Gothic"/>
              </a:rPr>
              <a:t>보유기간  0일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074920"/>
            <a:ext cx="11155680" cy="13716"/>
          </a:xfrm>
          <a:prstGeom prst="rect">
            <a:avLst/>
          </a:prstGeom>
          <a:solidFill>
            <a:srgbClr val="385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1663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D48A"/>
                </a:solidFill>
                <a:latin typeface="Malgun Gothic"/>
              </a:rPr>
              <a:t>2026년 기존 누적 (이전 사이클)  +15.45%  ($100,000 → $115,448)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889EBC"/>
                </a:solidFill>
                <a:latin typeface="Malgun Gothic"/>
              </a:rPr>
              <a:t>BATA  ·  RSI(2) Algorithm Channel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0F4FF"/>
                </a:solidFill>
                <a:latin typeface="Malgun Gothic"/>
              </a:rPr>
              <a:t>[TQQQ  26-8  /  Cycle #80]  사이클 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11457432" cy="1905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2651760" cy="1554480"/>
          </a:xfrm>
          <a:prstGeom prst="rect">
            <a:avLst/>
          </a:prstGeom>
          <a:solidFill>
            <a:srgbClr val="2A3C64"/>
          </a:solidFill>
          <a:ln w="19050">
            <a:solidFill>
              <a:srgbClr val="00D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9EBC"/>
                </a:solidFill>
                <a:latin typeface="Malgun Gothic"/>
              </a:rPr>
              <a:t>수익률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D48A"/>
                </a:solidFill>
                <a:latin typeface="Malgun Gothic"/>
              </a:rPr>
              <a:t>+874.99%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914400"/>
            <a:ext cx="2651760" cy="1554480"/>
          </a:xfrm>
          <a:prstGeom prst="rect">
            <a:avLst/>
          </a:prstGeom>
          <a:solidFill>
            <a:srgbClr val="2A3C64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80" y="960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9EBC"/>
                </a:solidFill>
                <a:latin typeface="Malgun Gothic"/>
              </a:rPr>
              <a:t>보유기간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4173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E5FF"/>
                </a:solidFill>
                <a:latin typeface="Malgun Gothic"/>
              </a:rPr>
              <a:t>0일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914400"/>
            <a:ext cx="2651760" cy="1554480"/>
          </a:xfrm>
          <a:prstGeom prst="rect">
            <a:avLst/>
          </a:prstGeom>
          <a:solidFill>
            <a:srgbClr val="2A3C64"/>
          </a:solidFill>
          <a:ln w="1905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960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9EBC"/>
                </a:solidFill>
                <a:latin typeface="Malgun Gothic"/>
              </a:rPr>
              <a:t>매수가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4173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9FFF"/>
                </a:solidFill>
                <a:latin typeface="Malgun Gothic"/>
              </a:rPr>
              <a:t>$72.53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32520" y="914400"/>
            <a:ext cx="2651760" cy="1554480"/>
          </a:xfrm>
          <a:prstGeom prst="rect">
            <a:avLst/>
          </a:prstGeom>
          <a:solidFill>
            <a:srgbClr val="2A3C64"/>
          </a:solidFill>
          <a:ln w="1905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20" y="960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9EBC"/>
                </a:solidFill>
                <a:latin typeface="Malgun Gothic"/>
              </a:rPr>
              <a:t>매도가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4173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9FFF"/>
                </a:solidFill>
                <a:latin typeface="Malgun Gothic"/>
              </a:rPr>
              <a:t>$72.53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651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FF"/>
                </a:solidFill>
                <a:latin typeface="Malgun Gothic"/>
              </a:rPr>
              <a:t>상세 지표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063240"/>
            <a:ext cx="11457432" cy="12700"/>
          </a:xfrm>
          <a:prstGeom prst="rect">
            <a:avLst/>
          </a:prstGeom>
          <a:solidFill>
            <a:srgbClr val="385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2004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EBC"/>
                </a:solidFill>
                <a:latin typeface="Malgun Gothic"/>
              </a:rPr>
              <a:t>투입금액 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20040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4FF"/>
                </a:solidFill>
                <a:latin typeface="Malgun Gothic"/>
              </a:rPr>
              <a:t>$115,448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2004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EBC"/>
                </a:solidFill>
                <a:latin typeface="Malgun Gothic"/>
              </a:rPr>
              <a:t>정산금액 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20040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4FF"/>
                </a:solidFill>
                <a:latin typeface="Malgun Gothic"/>
              </a:rPr>
              <a:t>진행중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5478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EBC"/>
                </a:solidFill>
                <a:latin typeface="Malgun Gothic"/>
              </a:rPr>
              <a:t>수익금 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54787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89EBC"/>
                </a:solidFill>
                <a:latin typeface="Malgun Gothic"/>
              </a:rPr>
              <a:t>-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5478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EBC"/>
                </a:solidFill>
                <a:latin typeface="Malgun Gothic"/>
              </a:rPr>
              <a:t>매수 RSI(2) 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54787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8A"/>
                </a:solidFill>
                <a:latin typeface="Malgun Gothic"/>
              </a:rPr>
              <a:t>9.56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89534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EBC"/>
                </a:solidFill>
                <a:latin typeface="Malgun Gothic"/>
              </a:rPr>
              <a:t>매수 F&amp;G 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389534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8A"/>
                </a:solidFill>
                <a:latin typeface="Malgun Gothic"/>
              </a:rPr>
              <a:t>60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89534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EBC"/>
                </a:solidFill>
                <a:latin typeface="Malgun Gothic"/>
              </a:rPr>
              <a:t>매도 RSI(2) 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89534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D6D"/>
                </a:solidFill>
                <a:latin typeface="Malgun Gothic"/>
              </a:rPr>
              <a:t>-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24281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EBC"/>
                </a:solidFill>
                <a:latin typeface="Malgun Gothic"/>
              </a:rPr>
              <a:t>매도 F&amp;G 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424281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D6D"/>
                </a:solidFill>
                <a:latin typeface="Malgun Gothic"/>
              </a:rPr>
              <a:t>-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24281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EBC"/>
                </a:solidFill>
                <a:latin typeface="Malgun Gothic"/>
              </a:rPr>
              <a:t>매수 조건 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24281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89EBC"/>
                </a:solidFill>
                <a:latin typeface="Malgun Gothic"/>
              </a:rPr>
              <a:t>RSI(2) ≤ 15.0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59028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EBC"/>
                </a:solidFill>
                <a:latin typeface="Malgun Gothic"/>
              </a:rPr>
              <a:t>매도 조건 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459028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89EBC"/>
                </a:solidFill>
                <a:latin typeface="Malgun Gothic"/>
              </a:rPr>
              <a:t>RSI(2) ≥ 75.0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59028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EBC"/>
                </a:solidFill>
                <a:latin typeface="Malgun Gothic"/>
              </a:rPr>
              <a:t>F&amp;G 필터 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459028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89EBC"/>
                </a:solidFill>
                <a:latin typeface="Malgun Gothic"/>
              </a:rPr>
              <a:t>매수보류 ≥75 / 매도보류 ≤25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166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700"/>
                </a:solidFill>
                <a:latin typeface="Malgun Gothic"/>
              </a:rPr>
              <a:t>※ 소수점(분수) 거래 기준 — 잔고 전액 투입 가능  |  증권사 수수료 및 세금 미포함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EBC"/>
                </a:solidFill>
                <a:latin typeface="Malgun Gothic"/>
              </a:rPr>
              <a:t>⚠ 본 자료는 교육 목적이며 투자 권유가 아닙니다.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F4FF"/>
                </a:solidFill>
                <a:latin typeface="Malgun Gothic"/>
              </a:rPr>
              <a:t>[TQQQ Cycle #80]  매수 진입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11457432" cy="1905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EBC"/>
                </a:solidFill>
                <a:latin typeface="Malgun Gothic"/>
              </a:rPr>
              <a:t>매수 신호 조건:  RSI(2) ≤ 15.0  (전일 종가 역산 LOC 기준가 이하 체결)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98755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188720"/>
                <a:gridCol w="1097280"/>
                <a:gridCol w="1005840"/>
                <a:gridCol w="822960"/>
                <a:gridCol w="2011680"/>
                <a:gridCol w="2194560"/>
              </a:tblGrid>
              <a:tr h="514350"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날짜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종가($)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등락률(%)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RSI(2)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F&amp;G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매매 기준가($)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액션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</a:tr>
              <a:tr h="51435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2026-08-10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$73.80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-0.90%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61.42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64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$64.64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51435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2026-08-11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$73.06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-1.00%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40.94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64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$69.22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51435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2026-08-12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$74.60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+2.11%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75.27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61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$71.14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51435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2026-08-13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$77.15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+3.42%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91.54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62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$69.28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51435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2026-08-14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$76.79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-0.47%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77.20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66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$67.26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51435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2026-08-17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$76.40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-0.51%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57.63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65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$72.03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514350"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2026-08-18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$72.53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-5.07%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9.56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60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$74.21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★ BUY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6235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8A"/>
                </a:solidFill>
                <a:latin typeface="Malgun Gothic"/>
              </a:rPr>
              <a:t>✅ 2026-08-18  매수 체결  |  종가 $72.53  |  RSI(2) 9.56  |  F&amp;G 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EBC"/>
                </a:solidFill>
                <a:latin typeface="Malgun Gothic"/>
              </a:rPr>
              <a:t>⚠ 본 자료는 교육 목적이며 투자 권유가 아닙니다.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F4FF"/>
                </a:solidFill>
                <a:latin typeface="Malgun Gothic"/>
              </a:rPr>
              <a:t>[TQQQ Cycle #80]  보유 기간 현황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11457432" cy="1905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EBC"/>
                </a:solidFill>
                <a:latin typeface="Malgun Gothic"/>
              </a:rPr>
              <a:t>보유 1거래일  |  F&amp;G 차단 발생 0회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088136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80160"/>
                <a:gridCol w="1188720"/>
                <a:gridCol w="1097280"/>
                <a:gridCol w="914400"/>
                <a:gridCol w="4754880"/>
              </a:tblGrid>
              <a:tr h="2423160"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0E5FF"/>
                          </a:solidFill>
                          <a:latin typeface="Malgun Gothic"/>
                        </a:rPr>
                        <a:t>날짜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0E5FF"/>
                          </a:solidFill>
                          <a:latin typeface="Malgun Gothic"/>
                        </a:rPr>
                        <a:t>종가($)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0E5FF"/>
                          </a:solidFill>
                          <a:latin typeface="Malgun Gothic"/>
                        </a:rPr>
                        <a:t>등락률(%)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0E5FF"/>
                          </a:solidFill>
                          <a:latin typeface="Malgun Gothic"/>
                        </a:rPr>
                        <a:t>RSI(2)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0E5FF"/>
                          </a:solidFill>
                          <a:latin typeface="Malgun Gothic"/>
                        </a:rPr>
                        <a:t>F&amp;G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0E5FF"/>
                          </a:solidFill>
                          <a:latin typeface="Malgun Gothic"/>
                        </a:rPr>
                        <a:t>차단 / 액션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</a:tr>
              <a:tr h="2423160"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0D48A"/>
                          </a:solidFill>
                          <a:latin typeface="Malgun Gothic"/>
                        </a:rPr>
                        <a:t>2026-08-18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0D48A"/>
                          </a:solidFill>
                          <a:latin typeface="Malgun Gothic"/>
                        </a:rPr>
                        <a:t>$72.53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0D48A"/>
                          </a:solidFill>
                          <a:latin typeface="Malgun Gothic"/>
                        </a:rPr>
                        <a:t>-5.07%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0D48A"/>
                          </a:solidFill>
                          <a:latin typeface="Malgun Gothic"/>
                        </a:rPr>
                        <a:t>9.56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0D48A"/>
                          </a:solidFill>
                          <a:latin typeface="Malgun Gothic"/>
                        </a:rPr>
                        <a:t>60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00D48A"/>
                          </a:solidFill>
                          <a:latin typeface="Malgun Gothic"/>
                        </a:rPr>
                        <a:t>★ BUY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EBC"/>
                </a:solidFill>
                <a:latin typeface="Malgun Gothic"/>
              </a:rPr>
              <a:t>⚠ 본 자료는 교육 목적이며 투자 권유가 아닙니다.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0F4FF"/>
                </a:solidFill>
                <a:latin typeface="Malgun Gothic"/>
              </a:rPr>
              <a:t>TQQQ  사이클 요약  —  2026년 사이클 전체 (8건)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11457432" cy="1905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896112"/>
          <a:ext cx="96012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143000"/>
                <a:gridCol w="1005840"/>
                <a:gridCol w="1417320"/>
                <a:gridCol w="1143000"/>
                <a:gridCol w="1005840"/>
                <a:gridCol w="777240"/>
                <a:gridCol w="960120"/>
                <a:gridCol w="1417320"/>
              </a:tblGrid>
              <a:tr h="386080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E5FF"/>
                          </a:solidFill>
                          <a:latin typeface="Malgun Gothic"/>
                        </a:rPr>
                        <a:t>사이클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E5FF"/>
                          </a:solidFill>
                          <a:latin typeface="Malgun Gothic"/>
                        </a:rPr>
                        <a:t>매수일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E5FF"/>
                          </a:solidFill>
                          <a:latin typeface="Malgun Gothic"/>
                        </a:rPr>
                        <a:t>매수가($)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E5FF"/>
                          </a:solidFill>
                          <a:latin typeface="Malgun Gothic"/>
                        </a:rPr>
                        <a:t>RSI/F&amp;G (매수)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E5FF"/>
                          </a:solidFill>
                          <a:latin typeface="Malgun Gothic"/>
                        </a:rPr>
                        <a:t>매도일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E5FF"/>
                          </a:solidFill>
                          <a:latin typeface="Malgun Gothic"/>
                        </a:rPr>
                        <a:t>매도가($)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E5FF"/>
                          </a:solidFill>
                          <a:latin typeface="Malgun Gothic"/>
                        </a:rPr>
                        <a:t>보유(일)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E5FF"/>
                          </a:solidFill>
                          <a:latin typeface="Malgun Gothic"/>
                        </a:rPr>
                        <a:t>수익률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E5FF"/>
                          </a:solidFill>
                          <a:latin typeface="Malgun Gothic"/>
                        </a:rPr>
                        <a:t>정산금액($)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</a:tr>
              <a:tr h="386080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#73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2026-01-14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$53.62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RSI 11.83  /  F&amp;G 59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2026-01-23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$54.17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10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D48A"/>
                          </a:solidFill>
                          <a:latin typeface="Malgun Gothic"/>
                        </a:rPr>
                        <a:t>+1.02%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$101,020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386080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#74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2026-01-30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$53.79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RSI 13.66  /  F&amp;G 59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2026-02-20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$49.86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4D6D"/>
                          </a:solidFill>
                          <a:latin typeface="Malgun Gothic"/>
                        </a:rPr>
                        <a:t>-7.30%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$93,646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386080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#75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2026-03-03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$47.91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RSI 12.35  /  F&amp;G 32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2026-04-08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$47.89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37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4D6D"/>
                          </a:solidFill>
                          <a:latin typeface="Malgun Gothic"/>
                        </a:rPr>
                        <a:t>-0.04%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$93,608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386080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#76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2026-05-19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$72.76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RSI 12.7  /  F&amp;G 59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2026-05-21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$76.77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3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D48A"/>
                          </a:solidFill>
                          <a:latin typeface="Malgun Gothic"/>
                        </a:rPr>
                        <a:t>+5.51%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$98,766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386080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#77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2026-06-05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$72.88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RSI 2.39  /  F&amp;G 42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2026-06-15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$84.40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11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D48A"/>
                          </a:solidFill>
                          <a:latin typeface="Malgun Gothic"/>
                        </a:rPr>
                        <a:t>+15.80%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$114,371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386080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#78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2026-06-24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$73.30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RSI 13.09  /  F&amp;G 26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2026-06-30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$81.00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7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D48A"/>
                          </a:solidFill>
                          <a:latin typeface="Malgun Gothic"/>
                        </a:rPr>
                        <a:t>+10.50%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$126,380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386080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#79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2026-07-16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$70.74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RSI 14.45  /  F&amp;G 46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2026-07-31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$64.62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16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4D6D"/>
                          </a:solidFill>
                          <a:latin typeface="Malgun Gothic"/>
                        </a:rPr>
                        <a:t>-8.65%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$115,448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386080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#80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2026-08-18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$72.53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RSI 9.56  /  F&amp;G 60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진행중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$72.53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00D48A"/>
                          </a:solidFill>
                          <a:latin typeface="Malgun Gothic"/>
                        </a:rPr>
                        <a:t>+874.99%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F0F4FF"/>
                          </a:solidFill>
                          <a:latin typeface="Malgun Gothic"/>
                        </a:rPr>
                        <a:t>$1,125,606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649224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EBC"/>
                </a:solidFill>
                <a:latin typeface="Malgun Gothic"/>
              </a:rPr>
              <a:t>※ 정산금액: 해당 연도 $100,000 기준 복리 누적 · 소수점 거래 · 수수료/세금 미포함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F4FF"/>
                </a:solidFill>
                <a:latin typeface="Malgun Gothic"/>
              </a:rPr>
              <a:t>지표 설명  &amp;  연도별 수익률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11457432" cy="1905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822960"/>
            <a:ext cx="4846320" cy="1901952"/>
          </a:xfrm>
          <a:prstGeom prst="rect">
            <a:avLst/>
          </a:prstGeom>
          <a:solidFill>
            <a:srgbClr val="2A3C64"/>
          </a:solidFill>
          <a:ln w="1524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14400"/>
            <a:ext cx="4626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FFF"/>
                </a:solidFill>
                <a:latin typeface="Malgun Gothic"/>
              </a:rPr>
              <a:t>RSI(2)  —  Relative Strength Index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167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AE0"/>
                </a:solidFill>
                <a:latin typeface="Malgun Gothic"/>
              </a:rPr>
              <a:t>2일 종가 변화를 Wilder 지수평활(α=0.5)해 0~100으로 환산.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819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CAE0"/>
                </a:solidFill>
                <a:latin typeface="Malgun Gothic"/>
              </a:rPr>
              <a:t>매수 신호 ≤ 15.0  (과매도)   /   매도 신호 ≥ 75.0  (과매수)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470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EBC"/>
                </a:solidFill>
                <a:latin typeface="Malgun Gothic"/>
              </a:rPr>
              <a:t>평균상승 = 0.5 × max(오늘-어제, 0) + 0.5 × 전일 평균상승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122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EBC"/>
                </a:solidFill>
                <a:latin typeface="Malgun Gothic"/>
              </a:rPr>
              <a:t>평균하락 = 0.5 × max(어제-오늘, 0) + 0.5 × 전일 평균하락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9FFF"/>
                </a:solidFill>
                <a:latin typeface="Malgun Gothic"/>
              </a:rPr>
              <a:t>RSI(2) = 100 − 100 ÷ (1 + 평균상승 ÷ 평균하락)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34640"/>
            <a:ext cx="4846320" cy="1901952"/>
          </a:xfrm>
          <a:prstGeom prst="rect">
            <a:avLst/>
          </a:prstGeom>
          <a:solidFill>
            <a:srgbClr val="2A3C64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926080"/>
            <a:ext cx="4626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  <a:latin typeface="Malgun Gothic"/>
              </a:rPr>
              <a:t>F&amp;G  —  CNN Fear &amp; Greed Index  (0~100)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3284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AE0"/>
                </a:solidFill>
                <a:latin typeface="Malgun Gothic"/>
              </a:rPr>
              <a:t>CNN이 7가지 시장 데이터를 매일 집계해 0(공포)~100(탐욕)으로 수치화.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5935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CAE0"/>
                </a:solidFill>
                <a:latin typeface="Malgun Gothic"/>
              </a:rPr>
              <a:t>매수 보류 ≥ 75 (탐욕)   /   매도 보류 ≤ 25 (공포)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8587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EBC"/>
                </a:solidFill>
                <a:latin typeface="Malgun Gothic"/>
              </a:rPr>
              <a:t>① 모멘텀(S&amp;P500/125일MA)  ② 주가강도(52주 고저)  ③ 거래량추세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2394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EBC"/>
                </a:solidFill>
                <a:latin typeface="Malgun Gothic"/>
              </a:rPr>
              <a:t>④ 풋/콜 비율  ⑤ VIX 변동성  ⑥ 안전자산 수요  ⑦ 정크본드 수요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00"/>
                </a:solidFill>
                <a:latin typeface="Malgun Gothic"/>
              </a:rPr>
              <a:t>→ 7가지 지표를 동일 가중 평균해 0~100 단일 지수로 환산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846320"/>
            <a:ext cx="4846320" cy="1901952"/>
          </a:xfrm>
          <a:prstGeom prst="rect">
            <a:avLst/>
          </a:prstGeom>
          <a:solidFill>
            <a:srgbClr val="2A3C64"/>
          </a:solidFill>
          <a:ln w="1524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4937760"/>
            <a:ext cx="46268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D6D"/>
                </a:solidFill>
                <a:latin typeface="Malgun Gothic"/>
              </a:rPr>
              <a:t>MDD  —  Maximum Drawdown  (최대 낙폭)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34009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AE0"/>
                </a:solidFill>
                <a:latin typeface="Malgun Gothic"/>
              </a:rPr>
              <a:t>투자 기간 내 최고 자산 대비 최대 손실률 (낮을수록 전략 안정).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6052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CAE0"/>
                </a:solidFill>
                <a:latin typeface="Malgun Gothic"/>
              </a:rPr>
              <a:t>연도별: 매년 $100,000 재시작 → 사이클 정산마다 자산값 추적.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8704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EBC"/>
                </a:solidFill>
                <a:latin typeface="Malgun Gothic"/>
              </a:rPr>
              <a:t>MDD(%) = (최고정산자산 − 현재정산자산) ÷ 최고정산자산 × 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13562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EBC"/>
                </a:solidFill>
                <a:latin typeface="Malgun Gothic"/>
              </a:rPr>
              <a:t>최고점: 연도 시작~현재까지 매 사이클 정산 후 누적 최댓값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4D6D"/>
                </a:solidFill>
                <a:latin typeface="Malgun Gothic"/>
              </a:rPr>
              <a:t>→ 일중 최저값 아닌 사이클 단위 정산 기준으로 낙폭 측정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49240" y="822960"/>
            <a:ext cx="22860" cy="5486400"/>
          </a:xfrm>
          <a:prstGeom prst="rect">
            <a:avLst/>
          </a:prstGeom>
          <a:solidFill>
            <a:srgbClr val="385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77840" y="822960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EBC"/>
                </a:solidFill>
                <a:latin typeface="Malgun Gothic"/>
              </a:rPr>
              <a:t>연도별 수익률  (연 $100,000 기준 · 소수점 거래 · 수수료/세금 미포함)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577840" y="1234440"/>
          <a:ext cx="6126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822960"/>
                <a:gridCol w="1554480"/>
                <a:gridCol w="1783080"/>
                <a:gridCol w="1005840"/>
              </a:tblGrid>
              <a:tr h="426720"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연도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사이클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연간 수익률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정산금액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MDD</a:t>
                      </a:r>
                    </a:p>
                  </a:txBody>
                  <a:tcPr anchor="ctr">
                    <a:solidFill>
                      <a:srgbClr val="38507C"/>
                    </a:solidFill>
                  </a:tcPr>
                </a:tc>
              </a:tr>
              <a:tr h="42672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2021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11회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+32.06%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$132,063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-16.2%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42672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2022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20회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+29.87%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$129,866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-36.7%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42672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2023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12회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+74.87%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$174,869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-7.8%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42672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2024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16회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+106.45%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$206,445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-7.9%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  <a:tr h="426720"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2025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13회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+36.42%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$136,423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0">
                          <a:solidFill>
                            <a:srgbClr val="F0F4FF"/>
                          </a:solidFill>
                          <a:latin typeface="Malgun Gothic"/>
                        </a:rPr>
                        <a:t>-24.5%</a:t>
                      </a:r>
                    </a:p>
                  </a:txBody>
                  <a:tcPr anchor="ctr">
                    <a:solidFill>
                      <a:srgbClr val="2A3C64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457200" y="646480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EBC"/>
                </a:solidFill>
                <a:latin typeface="Malgun Gothic"/>
              </a:rPr>
              <a:t>⚠ 본 자료는 교육 목적이며 투자 권유가 아닙니다.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4FF"/>
                </a:solidFill>
                <a:latin typeface="Malgun Gothic"/>
              </a:rPr>
              <a:t>TQQQ  최근 12개월  백테스트 차트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58368"/>
            <a:ext cx="11823192" cy="58338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510528"/>
            <a:ext cx="11457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EBC"/>
                </a:solidFill>
                <a:latin typeface="Malgun Gothic"/>
              </a:rPr>
              <a:t>※ 자산가치: 누적 복리 ($100K 시작, 연도 리셋 없음) · 수수료/세금 미포함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D700"/>
                </a:solidFill>
                <a:latin typeface="Malgun Gothic"/>
              </a:rPr>
              <a:t>⚠  투자 면책 고지  /  Disclaimer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1457432" cy="1905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05840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E0"/>
                </a:solidFill>
                <a:latin typeface="Malgun Gothic"/>
              </a:rPr>
              <a:t>본 유튜브 채널 및 관련 자료는 오직 교육 및 정보 제공 목적으로만 제작되었습니다.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17904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E0"/>
                </a:solidFill>
                <a:latin typeface="Malgun Gothic"/>
              </a:rPr>
              <a:t>이 콘텐츠는 투자 권유, 투자 자문, 또는 특정 금융상품의 매수·매도를 권고하는 것이 아닙니다.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65376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E0"/>
                </a:solidFill>
                <a:latin typeface="Malgun Gothic"/>
              </a:rPr>
              <a:t>모든 투자 결정은 시청자 본인의 판단과 책임 하에 이루어져야 하며,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E0"/>
                </a:solidFill>
                <a:latin typeface="Malgun Gothic"/>
              </a:rPr>
              <a:t>과거의 수익률이 미래의 수익률을 보장하지 않습니다.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24912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E0"/>
                </a:solidFill>
                <a:latin typeface="Malgun Gothic"/>
              </a:rPr>
              <a:t>RSI(2) 전략은 레버리지 ETF(TQQQ, SOXL 등)를 포함하며,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72384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E0"/>
                </a:solidFill>
                <a:latin typeface="Malgun Gothic"/>
              </a:rPr>
              <a:t>레버리지 ETF는 단기 변동성이 매우 크고 장기 보유 시 자산 감소 위험이 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19856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E0"/>
                </a:solidFill>
                <a:latin typeface="Malgun Gothic"/>
              </a:rPr>
              <a:t>투자 전 반드시 해당 상품의 투자설명서와 위험 고지를 숙지하시기 바랍니다.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E0"/>
                </a:solidFill>
                <a:latin typeface="Malgun Gothic"/>
              </a:rPr>
              <a:t>본 채널은 투자자문업 등록 없이 운영되며, 유료 투자 신호 서비스를 제공하지 않습니다.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79392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E0"/>
                </a:solidFill>
                <a:latin typeface="Malgun Gothic"/>
              </a:rPr>
              <a:t>콘텐츠에 포함된 알고리즘 백테스트 결과는 수수료, 세금, 슬리피지를 일부 반영하나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26864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E0"/>
                </a:solidFill>
                <a:latin typeface="Malgun Gothic"/>
              </a:rPr>
              <a:t>실제 투자 결과와 다를 수 있습니다.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38928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AE0"/>
                </a:solidFill>
                <a:latin typeface="Malgun Gothic"/>
              </a:rPr>
              <a:t>BATA Channel  ·  RSI(2) + Fear &amp; Greed Algorithm  ·  For Educational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