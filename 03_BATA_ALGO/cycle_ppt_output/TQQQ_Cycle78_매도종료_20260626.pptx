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BATA 채널입니다. 본 영상은 BATAGOTA 알고리즘 교육 목적으로 제작되었으며, 투자 권유가 아닙니다.</a:t>
            </a:r>
          </a:p>
          <a:p/>
          <a:p>
            <a:r>
              <a:t>오늘은 TQQQ 매도 신호 발생, 사이클 종료 보고서를 안내합니다. 이번 사이클 최종 수익률과 이 사이클까지 포함한 YTD 누적 성과가 화면에 표시되어 있습니다.</a:t>
            </a:r>
          </a:p>
          <a:p/>
          <a:p>
            <a:r>
              <a:t>BATAGOTA 알고리즘은 RSI 2일과 CNN 공포탐욕지수를 결합한 단기 과매도 역추세 전략입니다. 장 마감 후 15분 뒤 종가가 확정되면 이 보고서가 자동으로 발행됩니다.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이번 사이클의 핵심 지표 요약입니다.</a:t>
            </a:r>
          </a:p>
          <a:p/>
          <a:p>
            <a:r>
              <a:t>상단 4개 박스에서 최종 수익률, 보유기간, 매수가, 매도가를 한눈에 확인할 수 있습니다.</a:t>
            </a:r>
          </a:p>
          <a:p/>
          <a:p>
            <a:r>
              <a:t>하단 상세 지표에서 매수와 매도 시점의 RSI 2일 값과 CNN 공포탐욕지수를 확인합니다. TQQQ는 RSI 15 이하 매수, 75 이상 매도입니다. SOXL은 15 이하 매수, 90 이상 매도입니다. 공포탐욕지수 75 이상이면 매수 보류, 25 이하이면 매도 보류입니다. 정산금액은 연초 10만 달러 복리 시뮬레이션이며 수수료와 세금은 미포함입니다.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 신호 발생 전후 7거래일 데이터입니다.</a:t>
            </a:r>
          </a:p>
          <a:p/>
          <a:p>
            <a:r>
              <a:t>초록색으로 강조된 행이 실제 매수 신호 발생일입니다. RSI 2일 값이 임계값 이하로 내려온 것을 확인할 수 있습니다. 매매 기준가는 전일 종가를 기준으로 역산한 LOC 지정가입니다.</a:t>
            </a:r>
          </a:p>
          <a:p/>
          <a:p>
            <a:r>
              <a:t>LOC는 Limit on Close의 약자로, 장 마감 직전 지정가 주문을 통해 종가에 최대한 가깝게 체결하는 방식입니다. 액션 컬럼에 F&amp;G 차단이 표시된 날은 공포탐욕지수 필터로 신호가 보류된 것입니다. 보류가 해제되고 RSI 조건이 충족된 시점에 매수가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매수일부터 매도일까지 보유 기간 전체의 일별 데이터입니다.</a:t>
            </a:r>
          </a:p>
          <a:p/>
          <a:p>
            <a:r>
              <a:t>각 거래일의 종가, RSI 2일, CNN 공포탐욕지수 변화를 추적할 수 있습니다. 보유 기간이 18거래일을 초과하면 중간 구간은 요약 처리됩니다.</a:t>
            </a:r>
          </a:p>
          <a:p/>
          <a:p>
            <a:r>
              <a:t>초록색 BUY 행은 매수일, 빨간색 SELL 행은 매도 신호 발생일입니다. 차단 컬럼에 내용이 있으면 그날 공포탐욕지수 필터로 신호가 보류된 것입니다. RSI가 매도 임계값에 도달할 때까지 포지션을 유지하는 전체 과정을 확인할 수 있습니다. 매수 후에는 RSI 매도 임계값 도달 예상 가격을 미리 계산해 LOC 매도 주문을 설정해 두는 것이 권장됩니다.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매도 신호 발생 전후 7거래일 데이터입니다.</a:t>
            </a:r>
          </a:p>
          <a:p/>
          <a:p>
            <a:r>
              <a:t>빨간색으로 강조된 행이 매도 신호 발생일입니다. RSI 2일이 매도 임계값 이상으로 올라온 것을 확인할 수 있습니다. 매도 기준가는 전일 종가 기준 LOC 지정가이며, 이 금액 이상으로 장 마감에 체결됩니다.</a:t>
            </a:r>
          </a:p>
          <a:p/>
          <a:p>
            <a:r>
              <a:t>하단 확인 바에서 최종 체결가, 매도 시점 RSI와 공포탐욕지수, 이번 사이클 최종 수익률을 확인할 수 있습니다. 매도 완료 후에는 RSI 매수 임계값 도달 예상 가격을 모니터링하며 다음 LOC 매수 주문을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올해 전체 또는 최근 사이클 결과 요약입니다.</a:t>
            </a:r>
          </a:p>
          <a:p/>
          <a:p>
            <a:r>
              <a:t>각 사이클의 매수일, 매수가, 매수 시 RSI와 공포탐욕지수, 매도일, 보유기간, 수익률을 한 테이블에서 확인합니다. 초록색은 수익, 빨간색은 손실 사이클입니다.</a:t>
            </a:r>
          </a:p>
          <a:p/>
          <a:p>
            <a:r>
              <a:t>정산금액은 연초 10만 달러에서 각 사이클 수익률을 복리 누적 적용한 가상 시뮬레이션 결과입니다. 여러 사이클을 통해 알고리즘이 시장의 과매도 구간을 어떻게 반복 포착하는지 패턴을 확인할 수 있습니다. 소수점 거래 기준이며 수수료와 세금은 포함되지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BATAGOTA 알고리즘의 핵심 지표 3가지와 연도별 백테스트 수익률입니다.</a:t>
            </a:r>
          </a:p>
          <a:p/>
          <a:p>
            <a:r>
              <a:t>첫째, RSI 2일은 2일 종가 변화를 Wilder 지수평활법으로 0에서 100으로 환산한 단기 과매도 지표입니다. 15 이하이면 극도의 과매도, 75 이상이면 과매수 상태로 매매 신호가 발생합니다.</a:t>
            </a:r>
          </a:p>
          <a:p/>
          <a:p>
            <a:r>
              <a:t>둘째, CNN 공포탐욕지수는 시장 모멘텀, 주가강도, VIX 변동성 등 7가지 지표를 종합해 0에서 100으로 시장 심리를 수치화합니다. 단순 RSI만 사용하면 탐욕 구간에서 오신호가 발생할 수 있어 이 필터를 추가했습니다.</a:t>
            </a:r>
          </a:p>
          <a:p/>
          <a:p>
            <a:r>
              <a:t>셋째, MDD 최대낙폭은 투자 기간 중 최고 자산 대비 최대 손실률입니다. 낮을수록 전략이 안정적이며, 이 알고리즘의 핵심 강점 중 하나입니다.</a:t>
            </a:r>
          </a:p>
          <a:p/>
          <a:p>
            <a:r>
              <a:t>오른쪽 테이블에서 연도별 사이클 횟수, 연간 수익률, MDD를 확인할 수 있습니다. 단순 Buy&amp;Hold 전략 대비 이 알고리즘은 하락 구간을 현금으로 피하며 MDD를 낮추는 것이 핵심 강점입니다.</a:t>
            </a:r>
          </a:p>
          <a:p/>
          <a:p>
            <a:r>
              <a:t>향후 실전 운용 시 할 일: 매수 신호 발생 후 RSI 매도 임계값 도달 예상 가격을 계산해 LOC 매도 주문을 미리 설정합니다. 매도 완료 후에는 다음 매수 RSI 임계값 도달 가격을 모니터링해 LOC 매수를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최근 12개월 백테스트 차트입니다.</a:t>
            </a:r>
          </a:p>
          <a:p/>
          <a:p>
            <a:r>
              <a:t>파란 선은 TQQQ 실제 주가 움직임, 금색 선은 알고리즘 적용 시 누적 자산가치입니다. 초록 음영은 수익 보유 구간, 빨간 음영은 손실 보유 구간입니다.</a:t>
            </a:r>
          </a:p>
          <a:p/>
          <a:p>
            <a:r>
              <a:t>주가가 크게 하락하는 구간에서 알고리즘이 현금을 보유해 손실을 줄이고, 반등 초기 과매도 구간에서 재진입하는 패턴이 이 전략의 핵심입니다. 이 차트는 수수료와 세금 미포함 기준이며 참고용 시뮬레이션입니다.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중요한 안내입니다.</a:t>
            </a:r>
          </a:p>
          <a:p/>
          <a:p>
            <a:r>
              <a:t>본 영상과 자료는 BATAGOTA 알고리즘 교육 목적으로만 제작되었습니다. 투자 권유나 투자 자문이 아닙니다. 레버리지 ETF인 TQQQ와 SOXL은 단기 변동성이 매우 크며 장기 보유 시 자산이 감소할 수 있습니다. 과거 백테스트 결과가 미래 수익을 보장하지 않으며, 모든 투자 결정은 본인 판단과 책임 하에 이루어져야 합니다.</a:t>
            </a:r>
          </a:p>
          <a:p/>
          <a:p>
            <a:r>
              <a:t>시청해 주셔서 감사합니다. BATA 채널이었습니다.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73152" cy="667512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63040"/>
            <a:ext cx="11338560" cy="438912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828800" cy="640080"/>
          </a:xfrm>
          <a:prstGeom prst="rect">
            <a:avLst/>
          </a:prstGeom>
          <a:noFill/>
        </p:spPr>
        <p:txBody>
          <a:bodyPr wrap="square">
            <a:spAutoFit/>
          </a:bodyPr>
          <a:lstStyle/>
          <a:p>
            <a:pPr algn="ctr"/>
            <a:r>
              <a:rPr sz="3600" b="1" i="0">
                <a:solidFill>
                  <a:srgbClr val="FFD700"/>
                </a:solidFill>
                <a:latin typeface="Malgun Gothic"/>
              </a:rPr>
              <a:t>TQQQ</a:t>
            </a:r>
          </a:p>
        </p:txBody>
      </p:sp>
      <p:sp>
        <p:nvSpPr>
          <p:cNvPr id="7" name="Rectangle 6"/>
          <p:cNvSpPr/>
          <p:nvPr/>
        </p:nvSpPr>
        <p:spPr>
          <a:xfrm>
            <a:off x="2560320" y="1600200"/>
            <a:ext cx="2743200" cy="50292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600200"/>
            <a:ext cx="2743200" cy="502920"/>
          </a:xfrm>
          <a:prstGeom prst="rect">
            <a:avLst/>
          </a:prstGeom>
          <a:noFill/>
        </p:spPr>
        <p:txBody>
          <a:bodyPr wrap="square">
            <a:spAutoFit/>
          </a:bodyPr>
          <a:lstStyle/>
          <a:p>
            <a:pPr algn="ctr"/>
            <a:r>
              <a:rPr sz="2000" b="1" i="0">
                <a:solidFill>
                  <a:srgbClr val="F0F4FF"/>
                </a:solidFill>
                <a:latin typeface="Malgun Gothic"/>
              </a:rPr>
              <a:t>매도종료</a:t>
            </a:r>
          </a:p>
        </p:txBody>
      </p:sp>
      <p:sp>
        <p:nvSpPr>
          <p:cNvPr id="9" name="TextBox 8"/>
          <p:cNvSpPr txBox="1"/>
          <p:nvPr/>
        </p:nvSpPr>
        <p:spPr>
          <a:xfrm>
            <a:off x="548640" y="2286000"/>
            <a:ext cx="6400800" cy="640080"/>
          </a:xfrm>
          <a:prstGeom prst="rect">
            <a:avLst/>
          </a:prstGeom>
          <a:noFill/>
        </p:spPr>
        <p:txBody>
          <a:bodyPr wrap="square">
            <a:spAutoFit/>
          </a:bodyPr>
          <a:lstStyle/>
          <a:p>
            <a:pPr algn="l"/>
            <a:r>
              <a:rPr sz="2800" b="1" i="0">
                <a:solidFill>
                  <a:srgbClr val="F0F4FF"/>
                </a:solidFill>
                <a:latin typeface="Malgun Gothic"/>
              </a:rPr>
              <a:t>Cycle #78  ·  26-5</a:t>
            </a:r>
          </a:p>
        </p:txBody>
      </p:sp>
      <p:sp>
        <p:nvSpPr>
          <p:cNvPr id="10" name="TextBox 9"/>
          <p:cNvSpPr txBox="1"/>
          <p:nvPr/>
        </p:nvSpPr>
        <p:spPr>
          <a:xfrm>
            <a:off x="548640" y="2834640"/>
            <a:ext cx="10972800" cy="822960"/>
          </a:xfrm>
          <a:prstGeom prst="rect">
            <a:avLst/>
          </a:prstGeom>
          <a:noFill/>
        </p:spPr>
        <p:txBody>
          <a:bodyPr wrap="square">
            <a:spAutoFit/>
          </a:bodyPr>
          <a:lstStyle/>
          <a:p>
            <a:pPr algn="ctr"/>
            <a:r>
              <a:rPr sz="4000" b="1" i="0">
                <a:solidFill>
                  <a:srgbClr val="F0F4FF"/>
                </a:solidFill>
                <a:latin typeface="Malgun Gothic"/>
              </a:rPr>
              <a:t>RSI(2) + Fear &amp; Greed 전략</a:t>
            </a:r>
          </a:p>
        </p:txBody>
      </p:sp>
      <p:sp>
        <p:nvSpPr>
          <p:cNvPr id="11" name="TextBox 10"/>
          <p:cNvSpPr txBox="1"/>
          <p:nvPr/>
        </p:nvSpPr>
        <p:spPr>
          <a:xfrm>
            <a:off x="548640" y="3657600"/>
            <a:ext cx="10972800" cy="548640"/>
          </a:xfrm>
          <a:prstGeom prst="rect">
            <a:avLst/>
          </a:prstGeom>
          <a:noFill/>
        </p:spPr>
        <p:txBody>
          <a:bodyPr wrap="square">
            <a:spAutoFit/>
          </a:bodyPr>
          <a:lstStyle/>
          <a:p>
            <a:pPr algn="ctr"/>
            <a:r>
              <a:rPr sz="2000" b="0" i="0">
                <a:solidFill>
                  <a:srgbClr val="C0CAE0"/>
                </a:solidFill>
                <a:latin typeface="Malgun Gothic"/>
              </a:rPr>
              <a:t>매수: 2026-06-05  →  매도: 2026-06-15</a:t>
            </a:r>
          </a:p>
        </p:txBody>
      </p:sp>
      <p:sp>
        <p:nvSpPr>
          <p:cNvPr id="12" name="Rectangle 11"/>
          <p:cNvSpPr/>
          <p:nvPr/>
        </p:nvSpPr>
        <p:spPr>
          <a:xfrm>
            <a:off x="4389120" y="4297680"/>
            <a:ext cx="3383280" cy="73152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297680"/>
            <a:ext cx="3383280" cy="731520"/>
          </a:xfrm>
          <a:prstGeom prst="rect">
            <a:avLst/>
          </a:prstGeom>
          <a:noFill/>
        </p:spPr>
        <p:txBody>
          <a:bodyPr wrap="square">
            <a:spAutoFit/>
          </a:bodyPr>
          <a:lstStyle/>
          <a:p>
            <a:pPr algn="ctr"/>
            <a:r>
              <a:rPr sz="2600" b="1" i="0">
                <a:solidFill>
                  <a:srgbClr val="F0F4FF"/>
                </a:solidFill>
                <a:latin typeface="Malgun Gothic"/>
              </a:rPr>
              <a:t>이 사이클  +15.80%</a:t>
            </a:r>
          </a:p>
        </p:txBody>
      </p:sp>
      <p:sp>
        <p:nvSpPr>
          <p:cNvPr id="14" name="TextBox 13"/>
          <p:cNvSpPr txBox="1"/>
          <p:nvPr/>
        </p:nvSpPr>
        <p:spPr>
          <a:xfrm>
            <a:off x="548640" y="4434840"/>
            <a:ext cx="3657600" cy="365760"/>
          </a:xfrm>
          <a:prstGeom prst="rect">
            <a:avLst/>
          </a:prstGeom>
          <a:noFill/>
        </p:spPr>
        <p:txBody>
          <a:bodyPr wrap="square">
            <a:spAutoFit/>
          </a:bodyPr>
          <a:lstStyle/>
          <a:p>
            <a:pPr algn="l"/>
            <a:r>
              <a:rPr sz="1600" b="0" i="0">
                <a:solidFill>
                  <a:srgbClr val="889EBC"/>
                </a:solidFill>
                <a:latin typeface="Malgun Gothic"/>
              </a:rPr>
              <a:t>보유기간  10일</a:t>
            </a:r>
          </a:p>
        </p:txBody>
      </p:sp>
      <p:sp>
        <p:nvSpPr>
          <p:cNvPr id="15" name="Rectangle 14"/>
          <p:cNvSpPr/>
          <p:nvPr/>
        </p:nvSpPr>
        <p:spPr>
          <a:xfrm>
            <a:off x="548640" y="5074920"/>
            <a:ext cx="11155680" cy="13716"/>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66360"/>
            <a:ext cx="11155680" cy="457200"/>
          </a:xfrm>
          <a:prstGeom prst="rect">
            <a:avLst/>
          </a:prstGeom>
          <a:noFill/>
        </p:spPr>
        <p:txBody>
          <a:bodyPr wrap="square">
            <a:spAutoFit/>
          </a:bodyPr>
          <a:lstStyle/>
          <a:p>
            <a:pPr algn="ctr"/>
            <a:r>
              <a:rPr sz="1700" b="1" i="0">
                <a:solidFill>
                  <a:srgbClr val="00D48A"/>
                </a:solidFill>
                <a:latin typeface="Malgun Gothic"/>
              </a:rPr>
              <a:t>2026년 누적 수익률  +14.37%  ($100,000 → $114,371)</a:t>
            </a:r>
          </a:p>
        </p:txBody>
      </p:sp>
      <p:sp>
        <p:nvSpPr>
          <p:cNvPr id="17" name="TextBox 16"/>
          <p:cNvSpPr txBox="1"/>
          <p:nvPr/>
        </p:nvSpPr>
        <p:spPr>
          <a:xfrm>
            <a:off x="457200" y="6400800"/>
            <a:ext cx="11247120" cy="320040"/>
          </a:xfrm>
          <a:prstGeom prst="rect">
            <a:avLst/>
          </a:prstGeom>
          <a:noFill/>
        </p:spPr>
        <p:txBody>
          <a:bodyPr wrap="square">
            <a:spAutoFit/>
          </a:bodyPr>
          <a:lstStyle/>
          <a:p>
            <a:pPr algn="r"/>
            <a:r>
              <a:rPr sz="1300" b="0" i="0">
                <a:solidFill>
                  <a:srgbClr val="889EBC"/>
                </a:solidFill>
                <a:latin typeface="Malgun Gothic"/>
              </a:rPr>
              <a:t>BATA  ·  RSI(2) Algorithm Channel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400" b="1" i="0">
                <a:solidFill>
                  <a:srgbClr val="F0F4FF"/>
                </a:solidFill>
                <a:latin typeface="Malgun Gothic"/>
              </a:rPr>
              <a:t>[TQQQ  26-5  /  Cycle #78]  사이클 요약</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14400"/>
            <a:ext cx="2651760" cy="1554480"/>
          </a:xfrm>
          <a:prstGeom prst="rect">
            <a:avLst/>
          </a:prstGeom>
          <a:solidFill>
            <a:srgbClr val="2A3C64"/>
          </a:solidFill>
          <a:ln w="19050">
            <a:solidFill>
              <a:srgbClr val="00D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60120"/>
            <a:ext cx="2651760" cy="457200"/>
          </a:xfrm>
          <a:prstGeom prst="rect">
            <a:avLst/>
          </a:prstGeom>
          <a:noFill/>
        </p:spPr>
        <p:txBody>
          <a:bodyPr wrap="square">
            <a:spAutoFit/>
          </a:bodyPr>
          <a:lstStyle/>
          <a:p>
            <a:pPr algn="ctr"/>
            <a:r>
              <a:rPr sz="1400" b="0" i="0">
                <a:solidFill>
                  <a:srgbClr val="889EBC"/>
                </a:solidFill>
                <a:latin typeface="Malgun Gothic"/>
              </a:rPr>
              <a:t>수익률</a:t>
            </a:r>
          </a:p>
        </p:txBody>
      </p:sp>
      <p:sp>
        <p:nvSpPr>
          <p:cNvPr id="7" name="TextBox 6"/>
          <p:cNvSpPr txBox="1"/>
          <p:nvPr/>
        </p:nvSpPr>
        <p:spPr>
          <a:xfrm>
            <a:off x="365760" y="1417320"/>
            <a:ext cx="2651760" cy="822960"/>
          </a:xfrm>
          <a:prstGeom prst="rect">
            <a:avLst/>
          </a:prstGeom>
          <a:noFill/>
        </p:spPr>
        <p:txBody>
          <a:bodyPr wrap="square">
            <a:spAutoFit/>
          </a:bodyPr>
          <a:lstStyle/>
          <a:p>
            <a:pPr algn="ctr"/>
            <a:r>
              <a:rPr sz="2800" b="1" i="0">
                <a:solidFill>
                  <a:srgbClr val="00D48A"/>
                </a:solidFill>
                <a:latin typeface="Malgun Gothic"/>
              </a:rPr>
              <a:t>+15.80%</a:t>
            </a:r>
          </a:p>
        </p:txBody>
      </p:sp>
      <p:sp>
        <p:nvSpPr>
          <p:cNvPr id="8" name="Rectangle 7"/>
          <p:cNvSpPr/>
          <p:nvPr/>
        </p:nvSpPr>
        <p:spPr>
          <a:xfrm>
            <a:off x="3154680" y="914400"/>
            <a:ext cx="2651760" cy="1554480"/>
          </a:xfrm>
          <a:prstGeom prst="rect">
            <a:avLst/>
          </a:prstGeom>
          <a:solidFill>
            <a:srgbClr val="2A3C64"/>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960120"/>
            <a:ext cx="2651760" cy="457200"/>
          </a:xfrm>
          <a:prstGeom prst="rect">
            <a:avLst/>
          </a:prstGeom>
          <a:noFill/>
        </p:spPr>
        <p:txBody>
          <a:bodyPr wrap="square">
            <a:spAutoFit/>
          </a:bodyPr>
          <a:lstStyle/>
          <a:p>
            <a:pPr algn="ctr"/>
            <a:r>
              <a:rPr sz="1400" b="0" i="0">
                <a:solidFill>
                  <a:srgbClr val="889EBC"/>
                </a:solidFill>
                <a:latin typeface="Malgun Gothic"/>
              </a:rPr>
              <a:t>보유기간</a:t>
            </a:r>
          </a:p>
        </p:txBody>
      </p:sp>
      <p:sp>
        <p:nvSpPr>
          <p:cNvPr id="10" name="TextBox 9"/>
          <p:cNvSpPr txBox="1"/>
          <p:nvPr/>
        </p:nvSpPr>
        <p:spPr>
          <a:xfrm>
            <a:off x="3154680" y="1417320"/>
            <a:ext cx="2651760" cy="822960"/>
          </a:xfrm>
          <a:prstGeom prst="rect">
            <a:avLst/>
          </a:prstGeom>
          <a:noFill/>
        </p:spPr>
        <p:txBody>
          <a:bodyPr wrap="square">
            <a:spAutoFit/>
          </a:bodyPr>
          <a:lstStyle/>
          <a:p>
            <a:pPr algn="ctr"/>
            <a:r>
              <a:rPr sz="2800" b="1" i="0">
                <a:solidFill>
                  <a:srgbClr val="00E5FF"/>
                </a:solidFill>
                <a:latin typeface="Malgun Gothic"/>
              </a:rPr>
              <a:t>10일</a:t>
            </a:r>
          </a:p>
        </p:txBody>
      </p:sp>
      <p:sp>
        <p:nvSpPr>
          <p:cNvPr id="11" name="Rectangle 10"/>
          <p:cNvSpPr/>
          <p:nvPr/>
        </p:nvSpPr>
        <p:spPr>
          <a:xfrm>
            <a:off x="594360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960120"/>
            <a:ext cx="2651760" cy="457200"/>
          </a:xfrm>
          <a:prstGeom prst="rect">
            <a:avLst/>
          </a:prstGeom>
          <a:noFill/>
        </p:spPr>
        <p:txBody>
          <a:bodyPr wrap="square">
            <a:spAutoFit/>
          </a:bodyPr>
          <a:lstStyle/>
          <a:p>
            <a:pPr algn="ctr"/>
            <a:r>
              <a:rPr sz="1400" b="0" i="0">
                <a:solidFill>
                  <a:srgbClr val="889EBC"/>
                </a:solidFill>
                <a:latin typeface="Malgun Gothic"/>
              </a:rPr>
              <a:t>매수가</a:t>
            </a:r>
          </a:p>
        </p:txBody>
      </p:sp>
      <p:sp>
        <p:nvSpPr>
          <p:cNvPr id="13" name="TextBox 12"/>
          <p:cNvSpPr txBox="1"/>
          <p:nvPr/>
        </p:nvSpPr>
        <p:spPr>
          <a:xfrm>
            <a:off x="5943600" y="1417320"/>
            <a:ext cx="2651760" cy="822960"/>
          </a:xfrm>
          <a:prstGeom prst="rect">
            <a:avLst/>
          </a:prstGeom>
          <a:noFill/>
        </p:spPr>
        <p:txBody>
          <a:bodyPr wrap="square">
            <a:spAutoFit/>
          </a:bodyPr>
          <a:lstStyle/>
          <a:p>
            <a:pPr algn="ctr"/>
            <a:r>
              <a:rPr sz="2800" b="1" i="0">
                <a:solidFill>
                  <a:srgbClr val="009FFF"/>
                </a:solidFill>
                <a:latin typeface="Malgun Gothic"/>
              </a:rPr>
              <a:t>$73.05</a:t>
            </a:r>
          </a:p>
        </p:txBody>
      </p:sp>
      <p:sp>
        <p:nvSpPr>
          <p:cNvPr id="14" name="Rectangle 13"/>
          <p:cNvSpPr/>
          <p:nvPr/>
        </p:nvSpPr>
        <p:spPr>
          <a:xfrm>
            <a:off x="873252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960120"/>
            <a:ext cx="2651760" cy="457200"/>
          </a:xfrm>
          <a:prstGeom prst="rect">
            <a:avLst/>
          </a:prstGeom>
          <a:noFill/>
        </p:spPr>
        <p:txBody>
          <a:bodyPr wrap="square">
            <a:spAutoFit/>
          </a:bodyPr>
          <a:lstStyle/>
          <a:p>
            <a:pPr algn="ctr"/>
            <a:r>
              <a:rPr sz="1400" b="0" i="0">
                <a:solidFill>
                  <a:srgbClr val="889EBC"/>
                </a:solidFill>
                <a:latin typeface="Malgun Gothic"/>
              </a:rPr>
              <a:t>매도가</a:t>
            </a:r>
          </a:p>
        </p:txBody>
      </p:sp>
      <p:sp>
        <p:nvSpPr>
          <p:cNvPr id="16" name="TextBox 15"/>
          <p:cNvSpPr txBox="1"/>
          <p:nvPr/>
        </p:nvSpPr>
        <p:spPr>
          <a:xfrm>
            <a:off x="8732520" y="1417320"/>
            <a:ext cx="2651760" cy="822960"/>
          </a:xfrm>
          <a:prstGeom prst="rect">
            <a:avLst/>
          </a:prstGeom>
          <a:noFill/>
        </p:spPr>
        <p:txBody>
          <a:bodyPr wrap="square">
            <a:spAutoFit/>
          </a:bodyPr>
          <a:lstStyle/>
          <a:p>
            <a:pPr algn="ctr"/>
            <a:r>
              <a:rPr sz="2800" b="1" i="0">
                <a:solidFill>
                  <a:srgbClr val="009FFF"/>
                </a:solidFill>
                <a:latin typeface="Malgun Gothic"/>
              </a:rPr>
              <a:t>$84.59</a:t>
            </a:r>
          </a:p>
        </p:txBody>
      </p:sp>
      <p:sp>
        <p:nvSpPr>
          <p:cNvPr id="17" name="TextBox 16"/>
          <p:cNvSpPr txBox="1"/>
          <p:nvPr/>
        </p:nvSpPr>
        <p:spPr>
          <a:xfrm>
            <a:off x="457200" y="2651760"/>
            <a:ext cx="4572000" cy="411480"/>
          </a:xfrm>
          <a:prstGeom prst="rect">
            <a:avLst/>
          </a:prstGeom>
          <a:noFill/>
        </p:spPr>
        <p:txBody>
          <a:bodyPr wrap="square">
            <a:spAutoFit/>
          </a:bodyPr>
          <a:lstStyle/>
          <a:p>
            <a:pPr algn="l"/>
            <a:r>
              <a:rPr sz="1600" b="1" i="0">
                <a:solidFill>
                  <a:srgbClr val="00E5FF"/>
                </a:solidFill>
                <a:latin typeface="Malgun Gothic"/>
              </a:rPr>
              <a:t>상세 지표</a:t>
            </a:r>
          </a:p>
        </p:txBody>
      </p:sp>
      <p:sp>
        <p:nvSpPr>
          <p:cNvPr id="18" name="Rectangle 17"/>
          <p:cNvSpPr/>
          <p:nvPr/>
        </p:nvSpPr>
        <p:spPr>
          <a:xfrm>
            <a:off x="365760" y="3063240"/>
            <a:ext cx="11457432" cy="127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200400"/>
            <a:ext cx="2560320" cy="347472"/>
          </a:xfrm>
          <a:prstGeom prst="rect">
            <a:avLst/>
          </a:prstGeom>
          <a:noFill/>
        </p:spPr>
        <p:txBody>
          <a:bodyPr wrap="square">
            <a:spAutoFit/>
          </a:bodyPr>
          <a:lstStyle/>
          <a:p>
            <a:pPr algn="l"/>
            <a:r>
              <a:rPr sz="1400" b="0" i="0">
                <a:solidFill>
                  <a:srgbClr val="889EBC"/>
                </a:solidFill>
                <a:latin typeface="Malgun Gothic"/>
              </a:rPr>
              <a:t>투입금액 :</a:t>
            </a:r>
          </a:p>
        </p:txBody>
      </p:sp>
      <p:sp>
        <p:nvSpPr>
          <p:cNvPr id="20" name="TextBox 19"/>
          <p:cNvSpPr txBox="1"/>
          <p:nvPr/>
        </p:nvSpPr>
        <p:spPr>
          <a:xfrm>
            <a:off x="2286000" y="3200400"/>
            <a:ext cx="2926080" cy="347472"/>
          </a:xfrm>
          <a:prstGeom prst="rect">
            <a:avLst/>
          </a:prstGeom>
          <a:noFill/>
        </p:spPr>
        <p:txBody>
          <a:bodyPr wrap="square">
            <a:spAutoFit/>
          </a:bodyPr>
          <a:lstStyle/>
          <a:p>
            <a:pPr algn="l"/>
            <a:r>
              <a:rPr sz="1400" b="1" i="0">
                <a:solidFill>
                  <a:srgbClr val="F0F4FF"/>
                </a:solidFill>
                <a:latin typeface="Malgun Gothic"/>
              </a:rPr>
              <a:t>$98,766</a:t>
            </a:r>
          </a:p>
        </p:txBody>
      </p:sp>
      <p:sp>
        <p:nvSpPr>
          <p:cNvPr id="21" name="TextBox 20"/>
          <p:cNvSpPr txBox="1"/>
          <p:nvPr/>
        </p:nvSpPr>
        <p:spPr>
          <a:xfrm>
            <a:off x="6492240" y="3200400"/>
            <a:ext cx="2560320" cy="347472"/>
          </a:xfrm>
          <a:prstGeom prst="rect">
            <a:avLst/>
          </a:prstGeom>
          <a:noFill/>
        </p:spPr>
        <p:txBody>
          <a:bodyPr wrap="square">
            <a:spAutoFit/>
          </a:bodyPr>
          <a:lstStyle/>
          <a:p>
            <a:pPr algn="l"/>
            <a:r>
              <a:rPr sz="1400" b="0" i="0">
                <a:solidFill>
                  <a:srgbClr val="889EBC"/>
                </a:solidFill>
                <a:latin typeface="Malgun Gothic"/>
              </a:rPr>
              <a:t>정산금액 :</a:t>
            </a:r>
          </a:p>
        </p:txBody>
      </p:sp>
      <p:sp>
        <p:nvSpPr>
          <p:cNvPr id="22" name="TextBox 21"/>
          <p:cNvSpPr txBox="1"/>
          <p:nvPr/>
        </p:nvSpPr>
        <p:spPr>
          <a:xfrm>
            <a:off x="8321040" y="3200400"/>
            <a:ext cx="2926080" cy="347472"/>
          </a:xfrm>
          <a:prstGeom prst="rect">
            <a:avLst/>
          </a:prstGeom>
          <a:noFill/>
        </p:spPr>
        <p:txBody>
          <a:bodyPr wrap="square">
            <a:spAutoFit/>
          </a:bodyPr>
          <a:lstStyle/>
          <a:p>
            <a:pPr algn="l"/>
            <a:r>
              <a:rPr sz="1400" b="1" i="0">
                <a:solidFill>
                  <a:srgbClr val="F0F4FF"/>
                </a:solidFill>
                <a:latin typeface="Malgun Gothic"/>
              </a:rPr>
              <a:t>$114,371</a:t>
            </a:r>
          </a:p>
        </p:txBody>
      </p:sp>
      <p:sp>
        <p:nvSpPr>
          <p:cNvPr id="23" name="TextBox 22"/>
          <p:cNvSpPr txBox="1"/>
          <p:nvPr/>
        </p:nvSpPr>
        <p:spPr>
          <a:xfrm>
            <a:off x="457200" y="3547872"/>
            <a:ext cx="2560320" cy="347472"/>
          </a:xfrm>
          <a:prstGeom prst="rect">
            <a:avLst/>
          </a:prstGeom>
          <a:noFill/>
        </p:spPr>
        <p:txBody>
          <a:bodyPr wrap="square">
            <a:spAutoFit/>
          </a:bodyPr>
          <a:lstStyle/>
          <a:p>
            <a:pPr algn="l"/>
            <a:r>
              <a:rPr sz="1400" b="0" i="0">
                <a:solidFill>
                  <a:srgbClr val="889EBC"/>
                </a:solidFill>
                <a:latin typeface="Malgun Gothic"/>
              </a:rPr>
              <a:t>수익금 :</a:t>
            </a:r>
          </a:p>
        </p:txBody>
      </p:sp>
      <p:sp>
        <p:nvSpPr>
          <p:cNvPr id="24" name="TextBox 23"/>
          <p:cNvSpPr txBox="1"/>
          <p:nvPr/>
        </p:nvSpPr>
        <p:spPr>
          <a:xfrm>
            <a:off x="2286000" y="3547872"/>
            <a:ext cx="2926080" cy="347472"/>
          </a:xfrm>
          <a:prstGeom prst="rect">
            <a:avLst/>
          </a:prstGeom>
          <a:noFill/>
        </p:spPr>
        <p:txBody>
          <a:bodyPr wrap="square">
            <a:spAutoFit/>
          </a:bodyPr>
          <a:lstStyle/>
          <a:p>
            <a:pPr algn="l"/>
            <a:r>
              <a:rPr sz="1400" b="1" i="0">
                <a:solidFill>
                  <a:srgbClr val="00D48A"/>
                </a:solidFill>
                <a:latin typeface="Malgun Gothic"/>
              </a:rPr>
              <a:t>+$15,605</a:t>
            </a:r>
          </a:p>
        </p:txBody>
      </p:sp>
      <p:sp>
        <p:nvSpPr>
          <p:cNvPr id="25" name="TextBox 24"/>
          <p:cNvSpPr txBox="1"/>
          <p:nvPr/>
        </p:nvSpPr>
        <p:spPr>
          <a:xfrm>
            <a:off x="6492240" y="3547872"/>
            <a:ext cx="2560320" cy="347472"/>
          </a:xfrm>
          <a:prstGeom prst="rect">
            <a:avLst/>
          </a:prstGeom>
          <a:noFill/>
        </p:spPr>
        <p:txBody>
          <a:bodyPr wrap="square">
            <a:spAutoFit/>
          </a:bodyPr>
          <a:lstStyle/>
          <a:p>
            <a:pPr algn="l"/>
            <a:r>
              <a:rPr sz="1400" b="0" i="0">
                <a:solidFill>
                  <a:srgbClr val="889EBC"/>
                </a:solidFill>
                <a:latin typeface="Malgun Gothic"/>
              </a:rPr>
              <a:t>매수 RSI(2) :</a:t>
            </a:r>
          </a:p>
        </p:txBody>
      </p:sp>
      <p:sp>
        <p:nvSpPr>
          <p:cNvPr id="26" name="TextBox 25"/>
          <p:cNvSpPr txBox="1"/>
          <p:nvPr/>
        </p:nvSpPr>
        <p:spPr>
          <a:xfrm>
            <a:off x="8321040" y="3547872"/>
            <a:ext cx="2926080" cy="347472"/>
          </a:xfrm>
          <a:prstGeom prst="rect">
            <a:avLst/>
          </a:prstGeom>
          <a:noFill/>
        </p:spPr>
        <p:txBody>
          <a:bodyPr wrap="square">
            <a:spAutoFit/>
          </a:bodyPr>
          <a:lstStyle/>
          <a:p>
            <a:pPr algn="l"/>
            <a:r>
              <a:rPr sz="1400" b="1" i="0">
                <a:solidFill>
                  <a:srgbClr val="00D48A"/>
                </a:solidFill>
                <a:latin typeface="Malgun Gothic"/>
              </a:rPr>
              <a:t>2.39</a:t>
            </a:r>
          </a:p>
        </p:txBody>
      </p:sp>
      <p:sp>
        <p:nvSpPr>
          <p:cNvPr id="27" name="TextBox 26"/>
          <p:cNvSpPr txBox="1"/>
          <p:nvPr/>
        </p:nvSpPr>
        <p:spPr>
          <a:xfrm>
            <a:off x="457200" y="3895344"/>
            <a:ext cx="2560320" cy="347472"/>
          </a:xfrm>
          <a:prstGeom prst="rect">
            <a:avLst/>
          </a:prstGeom>
          <a:noFill/>
        </p:spPr>
        <p:txBody>
          <a:bodyPr wrap="square">
            <a:spAutoFit/>
          </a:bodyPr>
          <a:lstStyle/>
          <a:p>
            <a:pPr algn="l"/>
            <a:r>
              <a:rPr sz="1400" b="0" i="0">
                <a:solidFill>
                  <a:srgbClr val="889EBC"/>
                </a:solidFill>
                <a:latin typeface="Malgun Gothic"/>
              </a:rPr>
              <a:t>매수 F&amp;G :</a:t>
            </a:r>
          </a:p>
        </p:txBody>
      </p:sp>
      <p:sp>
        <p:nvSpPr>
          <p:cNvPr id="28" name="TextBox 27"/>
          <p:cNvSpPr txBox="1"/>
          <p:nvPr/>
        </p:nvSpPr>
        <p:spPr>
          <a:xfrm>
            <a:off x="2286000" y="3895344"/>
            <a:ext cx="2926080" cy="347472"/>
          </a:xfrm>
          <a:prstGeom prst="rect">
            <a:avLst/>
          </a:prstGeom>
          <a:noFill/>
        </p:spPr>
        <p:txBody>
          <a:bodyPr wrap="square">
            <a:spAutoFit/>
          </a:bodyPr>
          <a:lstStyle/>
          <a:p>
            <a:pPr algn="l"/>
            <a:r>
              <a:rPr sz="1400" b="1" i="0">
                <a:solidFill>
                  <a:srgbClr val="00D48A"/>
                </a:solidFill>
                <a:latin typeface="Malgun Gothic"/>
              </a:rPr>
              <a:t>42</a:t>
            </a:r>
          </a:p>
        </p:txBody>
      </p:sp>
      <p:sp>
        <p:nvSpPr>
          <p:cNvPr id="29" name="TextBox 28"/>
          <p:cNvSpPr txBox="1"/>
          <p:nvPr/>
        </p:nvSpPr>
        <p:spPr>
          <a:xfrm>
            <a:off x="6492240" y="3895344"/>
            <a:ext cx="2560320" cy="347472"/>
          </a:xfrm>
          <a:prstGeom prst="rect">
            <a:avLst/>
          </a:prstGeom>
          <a:noFill/>
        </p:spPr>
        <p:txBody>
          <a:bodyPr wrap="square">
            <a:spAutoFit/>
          </a:bodyPr>
          <a:lstStyle/>
          <a:p>
            <a:pPr algn="l"/>
            <a:r>
              <a:rPr sz="1400" b="0" i="0">
                <a:solidFill>
                  <a:srgbClr val="889EBC"/>
                </a:solidFill>
                <a:latin typeface="Malgun Gothic"/>
              </a:rPr>
              <a:t>매도 RSI(2) :</a:t>
            </a:r>
          </a:p>
        </p:txBody>
      </p:sp>
      <p:sp>
        <p:nvSpPr>
          <p:cNvPr id="30" name="TextBox 29"/>
          <p:cNvSpPr txBox="1"/>
          <p:nvPr/>
        </p:nvSpPr>
        <p:spPr>
          <a:xfrm>
            <a:off x="8321040" y="3895344"/>
            <a:ext cx="2926080" cy="347472"/>
          </a:xfrm>
          <a:prstGeom prst="rect">
            <a:avLst/>
          </a:prstGeom>
          <a:noFill/>
        </p:spPr>
        <p:txBody>
          <a:bodyPr wrap="square">
            <a:spAutoFit/>
          </a:bodyPr>
          <a:lstStyle/>
          <a:p>
            <a:pPr algn="l"/>
            <a:r>
              <a:rPr sz="1400" b="1" i="0">
                <a:solidFill>
                  <a:srgbClr val="FF4D6D"/>
                </a:solidFill>
                <a:latin typeface="Malgun Gothic"/>
              </a:rPr>
              <a:t>91.28</a:t>
            </a:r>
          </a:p>
        </p:txBody>
      </p:sp>
      <p:sp>
        <p:nvSpPr>
          <p:cNvPr id="31" name="TextBox 30"/>
          <p:cNvSpPr txBox="1"/>
          <p:nvPr/>
        </p:nvSpPr>
        <p:spPr>
          <a:xfrm>
            <a:off x="457200" y="4242816"/>
            <a:ext cx="2560320" cy="347472"/>
          </a:xfrm>
          <a:prstGeom prst="rect">
            <a:avLst/>
          </a:prstGeom>
          <a:noFill/>
        </p:spPr>
        <p:txBody>
          <a:bodyPr wrap="square">
            <a:spAutoFit/>
          </a:bodyPr>
          <a:lstStyle/>
          <a:p>
            <a:pPr algn="l"/>
            <a:r>
              <a:rPr sz="1400" b="0" i="0">
                <a:solidFill>
                  <a:srgbClr val="889EBC"/>
                </a:solidFill>
                <a:latin typeface="Malgun Gothic"/>
              </a:rPr>
              <a:t>매도 F&amp;G :</a:t>
            </a:r>
          </a:p>
        </p:txBody>
      </p:sp>
      <p:sp>
        <p:nvSpPr>
          <p:cNvPr id="32" name="TextBox 31"/>
          <p:cNvSpPr txBox="1"/>
          <p:nvPr/>
        </p:nvSpPr>
        <p:spPr>
          <a:xfrm>
            <a:off x="2286000" y="4242816"/>
            <a:ext cx="2926080" cy="347472"/>
          </a:xfrm>
          <a:prstGeom prst="rect">
            <a:avLst/>
          </a:prstGeom>
          <a:noFill/>
        </p:spPr>
        <p:txBody>
          <a:bodyPr wrap="square">
            <a:spAutoFit/>
          </a:bodyPr>
          <a:lstStyle/>
          <a:p>
            <a:pPr algn="l"/>
            <a:r>
              <a:rPr sz="1400" b="1" i="0">
                <a:solidFill>
                  <a:srgbClr val="FF4D6D"/>
                </a:solidFill>
                <a:latin typeface="Malgun Gothic"/>
              </a:rPr>
              <a:t>42</a:t>
            </a:r>
          </a:p>
        </p:txBody>
      </p:sp>
      <p:sp>
        <p:nvSpPr>
          <p:cNvPr id="33" name="TextBox 32"/>
          <p:cNvSpPr txBox="1"/>
          <p:nvPr/>
        </p:nvSpPr>
        <p:spPr>
          <a:xfrm>
            <a:off x="6492240" y="4242816"/>
            <a:ext cx="2560320" cy="347472"/>
          </a:xfrm>
          <a:prstGeom prst="rect">
            <a:avLst/>
          </a:prstGeom>
          <a:noFill/>
        </p:spPr>
        <p:txBody>
          <a:bodyPr wrap="square">
            <a:spAutoFit/>
          </a:bodyPr>
          <a:lstStyle/>
          <a:p>
            <a:pPr algn="l"/>
            <a:r>
              <a:rPr sz="1400" b="0" i="0">
                <a:solidFill>
                  <a:srgbClr val="889EBC"/>
                </a:solidFill>
                <a:latin typeface="Malgun Gothic"/>
              </a:rPr>
              <a:t>매수 조건 :</a:t>
            </a:r>
          </a:p>
        </p:txBody>
      </p:sp>
      <p:sp>
        <p:nvSpPr>
          <p:cNvPr id="34" name="TextBox 33"/>
          <p:cNvSpPr txBox="1"/>
          <p:nvPr/>
        </p:nvSpPr>
        <p:spPr>
          <a:xfrm>
            <a:off x="8321040" y="4242816"/>
            <a:ext cx="2926080" cy="347472"/>
          </a:xfrm>
          <a:prstGeom prst="rect">
            <a:avLst/>
          </a:prstGeom>
          <a:noFill/>
        </p:spPr>
        <p:txBody>
          <a:bodyPr wrap="square">
            <a:spAutoFit/>
          </a:bodyPr>
          <a:lstStyle/>
          <a:p>
            <a:pPr algn="l"/>
            <a:r>
              <a:rPr sz="1400" b="1" i="0">
                <a:solidFill>
                  <a:srgbClr val="889EBC"/>
                </a:solidFill>
                <a:latin typeface="Malgun Gothic"/>
              </a:rPr>
              <a:t>RSI(2) ≤ 15.0</a:t>
            </a:r>
          </a:p>
        </p:txBody>
      </p:sp>
      <p:sp>
        <p:nvSpPr>
          <p:cNvPr id="35" name="TextBox 34"/>
          <p:cNvSpPr txBox="1"/>
          <p:nvPr/>
        </p:nvSpPr>
        <p:spPr>
          <a:xfrm>
            <a:off x="457200" y="4590288"/>
            <a:ext cx="2560320" cy="347472"/>
          </a:xfrm>
          <a:prstGeom prst="rect">
            <a:avLst/>
          </a:prstGeom>
          <a:noFill/>
        </p:spPr>
        <p:txBody>
          <a:bodyPr wrap="square">
            <a:spAutoFit/>
          </a:bodyPr>
          <a:lstStyle/>
          <a:p>
            <a:pPr algn="l"/>
            <a:r>
              <a:rPr sz="1400" b="0" i="0">
                <a:solidFill>
                  <a:srgbClr val="889EBC"/>
                </a:solidFill>
                <a:latin typeface="Malgun Gothic"/>
              </a:rPr>
              <a:t>매도 조건 :</a:t>
            </a:r>
          </a:p>
        </p:txBody>
      </p:sp>
      <p:sp>
        <p:nvSpPr>
          <p:cNvPr id="36" name="TextBox 35"/>
          <p:cNvSpPr txBox="1"/>
          <p:nvPr/>
        </p:nvSpPr>
        <p:spPr>
          <a:xfrm>
            <a:off x="2286000" y="4590288"/>
            <a:ext cx="2926080" cy="347472"/>
          </a:xfrm>
          <a:prstGeom prst="rect">
            <a:avLst/>
          </a:prstGeom>
          <a:noFill/>
        </p:spPr>
        <p:txBody>
          <a:bodyPr wrap="square">
            <a:spAutoFit/>
          </a:bodyPr>
          <a:lstStyle/>
          <a:p>
            <a:pPr algn="l"/>
            <a:r>
              <a:rPr sz="1400" b="1" i="0">
                <a:solidFill>
                  <a:srgbClr val="889EBC"/>
                </a:solidFill>
                <a:latin typeface="Malgun Gothic"/>
              </a:rPr>
              <a:t>RSI(2) ≥ 75.0</a:t>
            </a:r>
          </a:p>
        </p:txBody>
      </p:sp>
      <p:sp>
        <p:nvSpPr>
          <p:cNvPr id="37" name="TextBox 36"/>
          <p:cNvSpPr txBox="1"/>
          <p:nvPr/>
        </p:nvSpPr>
        <p:spPr>
          <a:xfrm>
            <a:off x="6492240" y="4590288"/>
            <a:ext cx="2560320" cy="347472"/>
          </a:xfrm>
          <a:prstGeom prst="rect">
            <a:avLst/>
          </a:prstGeom>
          <a:noFill/>
        </p:spPr>
        <p:txBody>
          <a:bodyPr wrap="square">
            <a:spAutoFit/>
          </a:bodyPr>
          <a:lstStyle/>
          <a:p>
            <a:pPr algn="l"/>
            <a:r>
              <a:rPr sz="1400" b="0" i="0">
                <a:solidFill>
                  <a:srgbClr val="889EBC"/>
                </a:solidFill>
                <a:latin typeface="Malgun Gothic"/>
              </a:rPr>
              <a:t>F&amp;G 필터 :</a:t>
            </a:r>
          </a:p>
        </p:txBody>
      </p:sp>
      <p:sp>
        <p:nvSpPr>
          <p:cNvPr id="38" name="TextBox 37"/>
          <p:cNvSpPr txBox="1"/>
          <p:nvPr/>
        </p:nvSpPr>
        <p:spPr>
          <a:xfrm>
            <a:off x="8321040" y="4590288"/>
            <a:ext cx="2926080" cy="347472"/>
          </a:xfrm>
          <a:prstGeom prst="rect">
            <a:avLst/>
          </a:prstGeom>
          <a:noFill/>
        </p:spPr>
        <p:txBody>
          <a:bodyPr wrap="square">
            <a:spAutoFit/>
          </a:bodyPr>
          <a:lstStyle/>
          <a:p>
            <a:pPr algn="l"/>
            <a:r>
              <a:rPr sz="1400" b="1" i="0">
                <a:solidFill>
                  <a:srgbClr val="889EBC"/>
                </a:solidFill>
                <a:latin typeface="Malgun Gothic"/>
              </a:rPr>
              <a:t>매수보류 ≥75 / 매도보류 ≤25</a:t>
            </a:r>
          </a:p>
        </p:txBody>
      </p:sp>
      <p:sp>
        <p:nvSpPr>
          <p:cNvPr id="39" name="TextBox 38"/>
          <p:cNvSpPr txBox="1"/>
          <p:nvPr/>
        </p:nvSpPr>
        <p:spPr>
          <a:xfrm>
            <a:off x="457200" y="5166360"/>
            <a:ext cx="11247120" cy="365760"/>
          </a:xfrm>
          <a:prstGeom prst="rect">
            <a:avLst/>
          </a:prstGeom>
          <a:noFill/>
        </p:spPr>
        <p:txBody>
          <a:bodyPr wrap="square">
            <a:spAutoFit/>
          </a:bodyPr>
          <a:lstStyle/>
          <a:p>
            <a:pPr algn="ctr"/>
            <a:r>
              <a:rPr sz="1200" b="0" i="0">
                <a:solidFill>
                  <a:srgbClr val="FFD700"/>
                </a:solidFill>
                <a:latin typeface="Malgun Gothic"/>
              </a:rPr>
              <a:t>※ 소수점(분수) 거래 기준 — 잔고 전액 투입 가능  |  증권사 수수료 및 세금 미포함</a:t>
            </a:r>
          </a:p>
        </p:txBody>
      </p:sp>
      <p:sp>
        <p:nvSpPr>
          <p:cNvPr id="40" name="TextBox 39"/>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#78]  매수 진입 분석</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매수 신호 조건:  RSI(2) ≤ 15.0  (전일 종가 역산 LOC 기준가 이하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2026-05-28</a:t>
                      </a:r>
                    </a:p>
                  </a:txBody>
                  <a:tcPr anchor="ctr">
                    <a:solidFill>
                      <a:srgbClr val="2A3C64"/>
                    </a:solidFill>
                  </a:tcPr>
                </a:tc>
                <a:tc>
                  <a:txBody>
                    <a:bodyPr wrap="none"/>
                    <a:lstStyle/>
                    <a:p>
                      <a:pPr algn="ctr"/>
                      <a:r>
                        <a:rPr sz="1200" b="0">
                          <a:solidFill>
                            <a:srgbClr val="F0F4FF"/>
                          </a:solidFill>
                          <a:latin typeface="Malgun Gothic"/>
                        </a:rPr>
                        <a:t>$83.68</a:t>
                      </a:r>
                    </a:p>
                  </a:txBody>
                  <a:tcPr anchor="ctr">
                    <a:solidFill>
                      <a:srgbClr val="2A3C64"/>
                    </a:solidFill>
                  </a:tcPr>
                </a:tc>
                <a:tc>
                  <a:txBody>
                    <a:bodyPr wrap="none"/>
                    <a:lstStyle/>
                    <a:p>
                      <a:pPr algn="ctr"/>
                      <a:r>
                        <a:rPr sz="1200" b="0">
                          <a:solidFill>
                            <a:srgbClr val="F0F4FF"/>
                          </a:solidFill>
                          <a:latin typeface="Malgun Gothic"/>
                        </a:rPr>
                        <a:t>+2.46%</a:t>
                      </a:r>
                    </a:p>
                  </a:txBody>
                  <a:tcPr anchor="ctr">
                    <a:solidFill>
                      <a:srgbClr val="2A3C64"/>
                    </a:solidFill>
                  </a:tcPr>
                </a:tc>
                <a:tc>
                  <a:txBody>
                    <a:bodyPr wrap="none"/>
                    <a:lstStyle/>
                    <a:p>
                      <a:pPr algn="ctr"/>
                      <a:r>
                        <a:rPr sz="1200" b="0">
                          <a:solidFill>
                            <a:srgbClr val="F0F4FF"/>
                          </a:solidFill>
                          <a:latin typeface="Malgun Gothic"/>
                        </a:rPr>
                        <a:t>94.69</a:t>
                      </a:r>
                    </a:p>
                  </a:txBody>
                  <a:tcPr anchor="ctr">
                    <a:solidFill>
                      <a:srgbClr val="2A3C64"/>
                    </a:solidFill>
                  </a:tcPr>
                </a:tc>
                <a:tc>
                  <a:txBody>
                    <a:bodyPr wrap="none"/>
                    <a:lstStyle/>
                    <a:p>
                      <a:pPr algn="ctr"/>
                      <a:r>
                        <a:rPr sz="1200" b="0">
                          <a:solidFill>
                            <a:srgbClr val="F0F4FF"/>
                          </a:solidFill>
                          <a:latin typeface="Malgun Gothic"/>
                        </a:rPr>
                        <a:t>60</a:t>
                      </a:r>
                    </a:p>
                  </a:txBody>
                  <a:tcPr anchor="ctr">
                    <a:solidFill>
                      <a:srgbClr val="2A3C64"/>
                    </a:solidFill>
                  </a:tcPr>
                </a:tc>
                <a:tc>
                  <a:txBody>
                    <a:bodyPr wrap="none"/>
                    <a:lstStyle/>
                    <a:p>
                      <a:pPr algn="ctr"/>
                      <a:r>
                        <a:rPr sz="1200" b="0">
                          <a:solidFill>
                            <a:srgbClr val="F0F4FF"/>
                          </a:solidFill>
                          <a:latin typeface="Malgun Gothic"/>
                        </a:rPr>
                        <a:t>$74.58</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2026-05-29</a:t>
                      </a:r>
                    </a:p>
                  </a:txBody>
                  <a:tcPr anchor="ctr">
                    <a:solidFill>
                      <a:srgbClr val="2A3C64"/>
                    </a:solidFill>
                  </a:tcPr>
                </a:tc>
                <a:tc>
                  <a:txBody>
                    <a:bodyPr wrap="none"/>
                    <a:lstStyle/>
                    <a:p>
                      <a:pPr algn="ctr"/>
                      <a:r>
                        <a:rPr sz="1200" b="0">
                          <a:solidFill>
                            <a:srgbClr val="F0F4FF"/>
                          </a:solidFill>
                          <a:latin typeface="Malgun Gothic"/>
                        </a:rPr>
                        <a:t>$84.56</a:t>
                      </a:r>
                    </a:p>
                  </a:txBody>
                  <a:tcPr anchor="ctr">
                    <a:solidFill>
                      <a:srgbClr val="2A3C64"/>
                    </a:solidFill>
                  </a:tcPr>
                </a:tc>
                <a:tc>
                  <a:txBody>
                    <a:bodyPr wrap="none"/>
                    <a:lstStyle/>
                    <a:p>
                      <a:pPr algn="ctr"/>
                      <a:r>
                        <a:rPr sz="1200" b="0">
                          <a:solidFill>
                            <a:srgbClr val="F0F4FF"/>
                          </a:solidFill>
                          <a:latin typeface="Malgun Gothic"/>
                        </a:rPr>
                        <a:t>+1.05%</a:t>
                      </a:r>
                    </a:p>
                  </a:txBody>
                  <a:tcPr anchor="ctr">
                    <a:solidFill>
                      <a:srgbClr val="2A3C64"/>
                    </a:solidFill>
                  </a:tcPr>
                </a:tc>
                <a:tc>
                  <a:txBody>
                    <a:bodyPr wrap="none"/>
                    <a:lstStyle/>
                    <a:p>
                      <a:pPr algn="ctr"/>
                      <a:r>
                        <a:rPr sz="1200" b="0">
                          <a:solidFill>
                            <a:srgbClr val="F0F4FF"/>
                          </a:solidFill>
                          <a:latin typeface="Malgun Gothic"/>
                        </a:rPr>
                        <a:t>96.47</a:t>
                      </a:r>
                    </a:p>
                  </a:txBody>
                  <a:tcPr anchor="ctr">
                    <a:solidFill>
                      <a:srgbClr val="2A3C64"/>
                    </a:solidFill>
                  </a:tcPr>
                </a:tc>
                <a:tc>
                  <a:txBody>
                    <a:bodyPr wrap="none"/>
                    <a:lstStyle/>
                    <a:p>
                      <a:pPr algn="ctr"/>
                      <a:r>
                        <a:rPr sz="1200" b="0">
                          <a:solidFill>
                            <a:srgbClr val="F0F4FF"/>
                          </a:solidFill>
                          <a:latin typeface="Malgun Gothic"/>
                        </a:rPr>
                        <a:t>60</a:t>
                      </a:r>
                    </a:p>
                  </a:txBody>
                  <a:tcPr anchor="ctr">
                    <a:solidFill>
                      <a:srgbClr val="2A3C64"/>
                    </a:solidFill>
                  </a:tcPr>
                </a:tc>
                <a:tc>
                  <a:txBody>
                    <a:bodyPr wrap="none"/>
                    <a:lstStyle/>
                    <a:p>
                      <a:pPr algn="ctr"/>
                      <a:r>
                        <a:rPr sz="1200" b="0">
                          <a:solidFill>
                            <a:srgbClr val="F0F4FF"/>
                          </a:solidFill>
                          <a:latin typeface="Malgun Gothic"/>
                        </a:rPr>
                        <a:t>$74.44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2026-06-01</a:t>
                      </a:r>
                    </a:p>
                  </a:txBody>
                  <a:tcPr anchor="ctr">
                    <a:solidFill>
                      <a:srgbClr val="2A3C64"/>
                    </a:solidFill>
                  </a:tcPr>
                </a:tc>
                <a:tc>
                  <a:txBody>
                    <a:bodyPr wrap="none"/>
                    <a:lstStyle/>
                    <a:p>
                      <a:pPr algn="ctr"/>
                      <a:r>
                        <a:rPr sz="1200" b="0">
                          <a:solidFill>
                            <a:srgbClr val="F0F4FF"/>
                          </a:solidFill>
                          <a:latin typeface="Malgun Gothic"/>
                        </a:rPr>
                        <a:t>$86.04</a:t>
                      </a:r>
                    </a:p>
                  </a:txBody>
                  <a:tcPr anchor="ctr">
                    <a:solidFill>
                      <a:srgbClr val="2A3C64"/>
                    </a:solidFill>
                  </a:tcPr>
                </a:tc>
                <a:tc>
                  <a:txBody>
                    <a:bodyPr wrap="none"/>
                    <a:lstStyle/>
                    <a:p>
                      <a:pPr algn="ctr"/>
                      <a:r>
                        <a:rPr sz="1200" b="0">
                          <a:solidFill>
                            <a:srgbClr val="F0F4FF"/>
                          </a:solidFill>
                          <a:latin typeface="Malgun Gothic"/>
                        </a:rPr>
                        <a:t>+1.75%</a:t>
                      </a:r>
                    </a:p>
                  </a:txBody>
                  <a:tcPr anchor="ctr">
                    <a:solidFill>
                      <a:srgbClr val="2A3C64"/>
                    </a:solidFill>
                  </a:tcPr>
                </a:tc>
                <a:tc>
                  <a:txBody>
                    <a:bodyPr wrap="none"/>
                    <a:lstStyle/>
                    <a:p>
                      <a:pPr algn="ctr"/>
                      <a:r>
                        <a:rPr sz="1200" b="0">
                          <a:solidFill>
                            <a:srgbClr val="F0F4FF"/>
                          </a:solidFill>
                          <a:latin typeface="Malgun Gothic"/>
                        </a:rPr>
                        <a:t>98.34</a:t>
                      </a:r>
                    </a:p>
                  </a:txBody>
                  <a:tcPr anchor="ctr">
                    <a:solidFill>
                      <a:srgbClr val="2A3C64"/>
                    </a:solidFill>
                  </a:tcPr>
                </a:tc>
                <a:tc>
                  <a:txBody>
                    <a:bodyPr wrap="none"/>
                    <a:lstStyle/>
                    <a:p>
                      <a:pPr algn="ctr"/>
                      <a:r>
                        <a:rPr sz="1200" b="0">
                          <a:solidFill>
                            <a:srgbClr val="F0F4FF"/>
                          </a:solidFill>
                          <a:latin typeface="Malgun Gothic"/>
                        </a:rPr>
                        <a:t>57</a:t>
                      </a:r>
                    </a:p>
                  </a:txBody>
                  <a:tcPr anchor="ctr">
                    <a:solidFill>
                      <a:srgbClr val="2A3C64"/>
                    </a:solidFill>
                  </a:tcPr>
                </a:tc>
                <a:tc>
                  <a:txBody>
                    <a:bodyPr wrap="none"/>
                    <a:lstStyle/>
                    <a:p>
                      <a:pPr algn="ctr"/>
                      <a:r>
                        <a:rPr sz="1200" b="0">
                          <a:solidFill>
                            <a:srgbClr val="F0F4FF"/>
                          </a:solidFill>
                          <a:latin typeface="Malgun Gothic"/>
                        </a:rPr>
                        <a:t>$77.45</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2026-06-02</a:t>
                      </a:r>
                    </a:p>
                  </a:txBody>
                  <a:tcPr anchor="ctr">
                    <a:solidFill>
                      <a:srgbClr val="2A3C64"/>
                    </a:solidFill>
                  </a:tcPr>
                </a:tc>
                <a:tc>
                  <a:txBody>
                    <a:bodyPr wrap="none"/>
                    <a:lstStyle/>
                    <a:p>
                      <a:pPr algn="ctr"/>
                      <a:r>
                        <a:rPr sz="1200" b="0">
                          <a:solidFill>
                            <a:srgbClr val="F0F4FF"/>
                          </a:solidFill>
                          <a:latin typeface="Malgun Gothic"/>
                        </a:rPr>
                        <a:t>$87.22</a:t>
                      </a:r>
                    </a:p>
                  </a:txBody>
                  <a:tcPr anchor="ctr">
                    <a:solidFill>
                      <a:srgbClr val="2A3C64"/>
                    </a:solidFill>
                  </a:tcPr>
                </a:tc>
                <a:tc>
                  <a:txBody>
                    <a:bodyPr wrap="none"/>
                    <a:lstStyle/>
                    <a:p>
                      <a:pPr algn="ctr"/>
                      <a:r>
                        <a:rPr sz="1200" b="0">
                          <a:solidFill>
                            <a:srgbClr val="F0F4FF"/>
                          </a:solidFill>
                          <a:latin typeface="Malgun Gothic"/>
                        </a:rPr>
                        <a:t>+1.37%</a:t>
                      </a:r>
                    </a:p>
                  </a:txBody>
                  <a:tcPr anchor="ctr">
                    <a:solidFill>
                      <a:srgbClr val="2A3C64"/>
                    </a:solidFill>
                  </a:tcPr>
                </a:tc>
                <a:tc>
                  <a:txBody>
                    <a:bodyPr wrap="none"/>
                    <a:lstStyle/>
                    <a:p>
                      <a:pPr algn="ctr"/>
                      <a:r>
                        <a:rPr sz="1200" b="0">
                          <a:solidFill>
                            <a:srgbClr val="F0F4FF"/>
                          </a:solidFill>
                          <a:latin typeface="Malgun Gothic"/>
                        </a:rPr>
                        <a:t>99.10</a:t>
                      </a:r>
                    </a:p>
                  </a:txBody>
                  <a:tcPr anchor="ctr">
                    <a:solidFill>
                      <a:srgbClr val="2A3C64"/>
                    </a:solidFill>
                  </a:tcPr>
                </a:tc>
                <a:tc>
                  <a:txBody>
                    <a:bodyPr wrap="none"/>
                    <a:lstStyle/>
                    <a:p>
                      <a:pPr algn="ctr"/>
                      <a:r>
                        <a:rPr sz="1200" b="0">
                          <a:solidFill>
                            <a:srgbClr val="F0F4FF"/>
                          </a:solidFill>
                          <a:latin typeface="Malgun Gothic"/>
                        </a:rPr>
                        <a:t>56</a:t>
                      </a:r>
                    </a:p>
                  </a:txBody>
                  <a:tcPr anchor="ctr">
                    <a:solidFill>
                      <a:srgbClr val="2A3C64"/>
                    </a:solidFill>
                  </a:tcPr>
                </a:tc>
                <a:tc>
                  <a:txBody>
                    <a:bodyPr wrap="none"/>
                    <a:lstStyle/>
                    <a:p>
                      <a:pPr algn="ctr"/>
                      <a:r>
                        <a:rPr sz="1200" b="0">
                          <a:solidFill>
                            <a:srgbClr val="F0F4FF"/>
                          </a:solidFill>
                          <a:latin typeface="Malgun Gothic"/>
                        </a:rPr>
                        <a:t>$78.29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2026-06-03</a:t>
                      </a:r>
                    </a:p>
                  </a:txBody>
                  <a:tcPr anchor="ctr">
                    <a:solidFill>
                      <a:srgbClr val="2A3C64"/>
                    </a:solidFill>
                  </a:tcPr>
                </a:tc>
                <a:tc>
                  <a:txBody>
                    <a:bodyPr wrap="none"/>
                    <a:lstStyle/>
                    <a:p>
                      <a:pPr algn="ctr"/>
                      <a:r>
                        <a:rPr sz="1200" b="0">
                          <a:solidFill>
                            <a:srgbClr val="F0F4FF"/>
                          </a:solidFill>
                          <a:latin typeface="Malgun Gothic"/>
                        </a:rPr>
                        <a:t>$86.56</a:t>
                      </a:r>
                    </a:p>
                  </a:txBody>
                  <a:tcPr anchor="ctr">
                    <a:solidFill>
                      <a:srgbClr val="2A3C64"/>
                    </a:solidFill>
                  </a:tcPr>
                </a:tc>
                <a:tc>
                  <a:txBody>
                    <a:bodyPr wrap="none"/>
                    <a:lstStyle/>
                    <a:p>
                      <a:pPr algn="ctr"/>
                      <a:r>
                        <a:rPr sz="1200" b="0">
                          <a:solidFill>
                            <a:srgbClr val="F0F4FF"/>
                          </a:solidFill>
                          <a:latin typeface="Malgun Gothic"/>
                        </a:rPr>
                        <a:t>-0.76%</a:t>
                      </a:r>
                    </a:p>
                  </a:txBody>
                  <a:tcPr anchor="ctr">
                    <a:solidFill>
                      <a:srgbClr val="2A3C64"/>
                    </a:solidFill>
                  </a:tcPr>
                </a:tc>
                <a:tc>
                  <a:txBody>
                    <a:bodyPr wrap="none"/>
                    <a:lstStyle/>
                    <a:p>
                      <a:pPr algn="ctr"/>
                      <a:r>
                        <a:rPr sz="1200" b="0">
                          <a:solidFill>
                            <a:srgbClr val="F0F4FF"/>
                          </a:solidFill>
                          <a:latin typeface="Malgun Gothic"/>
                        </a:rPr>
                        <a:t>65.52</a:t>
                      </a:r>
                    </a:p>
                  </a:txBody>
                  <a:tcPr anchor="ctr">
                    <a:solidFill>
                      <a:srgbClr val="2A3C64"/>
                    </a:solidFill>
                  </a:tcPr>
                </a:tc>
                <a:tc>
                  <a:txBody>
                    <a:bodyPr wrap="none"/>
                    <a:lstStyle/>
                    <a:p>
                      <a:pPr algn="ctr"/>
                      <a:r>
                        <a:rPr sz="1200" b="0">
                          <a:solidFill>
                            <a:srgbClr val="F0F4FF"/>
                          </a:solidFill>
                          <a:latin typeface="Malgun Gothic"/>
                        </a:rPr>
                        <a:t>53</a:t>
                      </a:r>
                    </a:p>
                  </a:txBody>
                  <a:tcPr anchor="ctr">
                    <a:solidFill>
                      <a:srgbClr val="2A3C64"/>
                    </a:solidFill>
                  </a:tcPr>
                </a:tc>
                <a:tc>
                  <a:txBody>
                    <a:bodyPr wrap="none"/>
                    <a:lstStyle/>
                    <a:p>
                      <a:pPr algn="ctr"/>
                      <a:r>
                        <a:rPr sz="1200" b="0">
                          <a:solidFill>
                            <a:srgbClr val="F0F4FF"/>
                          </a:solidFill>
                          <a:latin typeface="Malgun Gothic"/>
                        </a:rPr>
                        <a:t>$80.0</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2026-06-04</a:t>
                      </a:r>
                    </a:p>
                  </a:txBody>
                  <a:tcPr anchor="ctr">
                    <a:solidFill>
                      <a:srgbClr val="2A3C64"/>
                    </a:solidFill>
                  </a:tcPr>
                </a:tc>
                <a:tc>
                  <a:txBody>
                    <a:bodyPr wrap="none"/>
                    <a:lstStyle/>
                    <a:p>
                      <a:pPr algn="ctr"/>
                      <a:r>
                        <a:rPr sz="1200" b="0">
                          <a:solidFill>
                            <a:srgbClr val="F0F4FF"/>
                          </a:solidFill>
                          <a:latin typeface="Malgun Gothic"/>
                        </a:rPr>
                        <a:t>$85.22</a:t>
                      </a:r>
                    </a:p>
                  </a:txBody>
                  <a:tcPr anchor="ctr">
                    <a:solidFill>
                      <a:srgbClr val="2A3C64"/>
                    </a:solidFill>
                  </a:tcPr>
                </a:tc>
                <a:tc>
                  <a:txBody>
                    <a:bodyPr wrap="none"/>
                    <a:lstStyle/>
                    <a:p>
                      <a:pPr algn="ctr"/>
                      <a:r>
                        <a:rPr sz="1200" b="0">
                          <a:solidFill>
                            <a:srgbClr val="F0F4FF"/>
                          </a:solidFill>
                          <a:latin typeface="Malgun Gothic"/>
                        </a:rPr>
                        <a:t>-1.55%</a:t>
                      </a:r>
                    </a:p>
                  </a:txBody>
                  <a:tcPr anchor="ctr">
                    <a:solidFill>
                      <a:srgbClr val="2A3C64"/>
                    </a:solidFill>
                  </a:tcPr>
                </a:tc>
                <a:tc>
                  <a:txBody>
                    <a:bodyPr wrap="none"/>
                    <a:lstStyle/>
                    <a:p>
                      <a:pPr algn="ctr"/>
                      <a:r>
                        <a:rPr sz="1200" b="0">
                          <a:solidFill>
                            <a:srgbClr val="F0F4FF"/>
                          </a:solidFill>
                          <a:latin typeface="Malgun Gothic"/>
                        </a:rPr>
                        <a:t>27.57</a:t>
                      </a:r>
                    </a:p>
                  </a:txBody>
                  <a:tcPr anchor="ctr">
                    <a:solidFill>
                      <a:srgbClr val="2A3C64"/>
                    </a:solidFill>
                  </a:tcPr>
                </a:tc>
                <a:tc>
                  <a:txBody>
                    <a:bodyPr wrap="none"/>
                    <a:lstStyle/>
                    <a:p>
                      <a:pPr algn="ctr"/>
                      <a:r>
                        <a:rPr sz="1200" b="0">
                          <a:solidFill>
                            <a:srgbClr val="F0F4FF"/>
                          </a:solidFill>
                          <a:latin typeface="Malgun Gothic"/>
                        </a:rPr>
                        <a:t>54</a:t>
                      </a:r>
                    </a:p>
                  </a:txBody>
                  <a:tcPr anchor="ctr">
                    <a:solidFill>
                      <a:srgbClr val="2A3C64"/>
                    </a:solidFill>
                  </a:tcPr>
                </a:tc>
                <a:tc>
                  <a:txBody>
                    <a:bodyPr wrap="none"/>
                    <a:lstStyle/>
                    <a:p>
                      <a:pPr algn="ctr"/>
                      <a:r>
                        <a:rPr sz="1200" b="0">
                          <a:solidFill>
                            <a:srgbClr val="F0F4FF"/>
                          </a:solidFill>
                          <a:latin typeface="Malgun Gothic"/>
                        </a:rPr>
                        <a:t>$83.28</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00D48A"/>
                          </a:solidFill>
                          <a:latin typeface="Malgun Gothic"/>
                        </a:rPr>
                        <a:t>2026-06-05</a:t>
                      </a:r>
                    </a:p>
                  </a:txBody>
                  <a:tcPr anchor="ctr">
                    <a:solidFill>
                      <a:srgbClr val="38507C"/>
                    </a:solidFill>
                  </a:tcPr>
                </a:tc>
                <a:tc>
                  <a:txBody>
                    <a:bodyPr wrap="none"/>
                    <a:lstStyle/>
                    <a:p>
                      <a:pPr algn="ctr"/>
                      <a:r>
                        <a:rPr sz="1200" b="1">
                          <a:solidFill>
                            <a:srgbClr val="00D48A"/>
                          </a:solidFill>
                          <a:latin typeface="Malgun Gothic"/>
                        </a:rPr>
                        <a:t>$73.05</a:t>
                      </a:r>
                    </a:p>
                  </a:txBody>
                  <a:tcPr anchor="ctr">
                    <a:solidFill>
                      <a:srgbClr val="38507C"/>
                    </a:solidFill>
                  </a:tcPr>
                </a:tc>
                <a:tc>
                  <a:txBody>
                    <a:bodyPr wrap="none"/>
                    <a:lstStyle/>
                    <a:p>
                      <a:pPr algn="ctr"/>
                      <a:r>
                        <a:rPr sz="1200" b="1">
                          <a:solidFill>
                            <a:srgbClr val="00D48A"/>
                          </a:solidFill>
                          <a:latin typeface="Malgun Gothic"/>
                        </a:rPr>
                        <a:t>-14.28%</a:t>
                      </a:r>
                    </a:p>
                  </a:txBody>
                  <a:tcPr anchor="ctr">
                    <a:solidFill>
                      <a:srgbClr val="38507C"/>
                    </a:solidFill>
                  </a:tcPr>
                </a:tc>
                <a:tc>
                  <a:txBody>
                    <a:bodyPr wrap="none"/>
                    <a:lstStyle/>
                    <a:p>
                      <a:pPr algn="ctr"/>
                      <a:r>
                        <a:rPr sz="1200" b="1">
                          <a:solidFill>
                            <a:srgbClr val="00D48A"/>
                          </a:solidFill>
                          <a:latin typeface="Malgun Gothic"/>
                        </a:rPr>
                        <a:t>2.39</a:t>
                      </a:r>
                    </a:p>
                  </a:txBody>
                  <a:tcPr anchor="ctr">
                    <a:solidFill>
                      <a:srgbClr val="38507C"/>
                    </a:solidFill>
                  </a:tcPr>
                </a:tc>
                <a:tc>
                  <a:txBody>
                    <a:bodyPr wrap="none"/>
                    <a:lstStyle/>
                    <a:p>
                      <a:pPr algn="ctr"/>
                      <a:r>
                        <a:rPr sz="1200" b="1">
                          <a:solidFill>
                            <a:srgbClr val="00D48A"/>
                          </a:solidFill>
                          <a:latin typeface="Malgun Gothic"/>
                        </a:rPr>
                        <a:t>42</a:t>
                      </a:r>
                    </a:p>
                  </a:txBody>
                  <a:tcPr anchor="ctr">
                    <a:solidFill>
                      <a:srgbClr val="38507C"/>
                    </a:solidFill>
                  </a:tcPr>
                </a:tc>
                <a:tc>
                  <a:txBody>
                    <a:bodyPr wrap="none"/>
                    <a:lstStyle/>
                    <a:p>
                      <a:pPr algn="ctr"/>
                      <a:r>
                        <a:rPr sz="1200" b="1">
                          <a:solidFill>
                            <a:srgbClr val="00D48A"/>
                          </a:solidFill>
                          <a:latin typeface="Malgun Gothic"/>
                        </a:rPr>
                        <a:t>$84.25</a:t>
                      </a:r>
                    </a:p>
                  </a:txBody>
                  <a:tcPr anchor="ctr">
                    <a:solidFill>
                      <a:srgbClr val="38507C"/>
                    </a:solidFill>
                  </a:tcPr>
                </a:tc>
                <a:tc>
                  <a:txBody>
                    <a:bodyPr wrap="none"/>
                    <a:lstStyle/>
                    <a:p>
                      <a:pPr algn="ctr"/>
                      <a:r>
                        <a:rPr sz="1200" b="1">
                          <a:solidFill>
                            <a:srgbClr val="00D48A"/>
                          </a:solidFill>
                          <a:latin typeface="Malgun Gothic"/>
                        </a:rPr>
                        <a:t>★ BUY</a:t>
                      </a:r>
                    </a:p>
                  </a:txBody>
                  <a:tcPr anchor="ctr">
                    <a:solidFill>
                      <a:srgbClr val="38507C"/>
                    </a:solidFill>
                  </a:tcPr>
                </a:tc>
              </a:tr>
              <a:tr h="457200">
                <a:tc>
                  <a:txBody>
                    <a:bodyPr wrap="none"/>
                    <a:lstStyle/>
                    <a:p>
                      <a:pPr algn="ctr"/>
                      <a:r>
                        <a:rPr sz="1200" b="0">
                          <a:solidFill>
                            <a:srgbClr val="F0F4FF"/>
                          </a:solidFill>
                          <a:latin typeface="Malgun Gothic"/>
                        </a:rPr>
                        <a:t>2026-06-08</a:t>
                      </a:r>
                    </a:p>
                  </a:txBody>
                  <a:tcPr anchor="ctr">
                    <a:solidFill>
                      <a:srgbClr val="2A3C64"/>
                    </a:solidFill>
                  </a:tcPr>
                </a:tc>
                <a:tc>
                  <a:txBody>
                    <a:bodyPr wrap="none"/>
                    <a:lstStyle/>
                    <a:p>
                      <a:pPr algn="ctr"/>
                      <a:r>
                        <a:rPr sz="1200" b="0">
                          <a:solidFill>
                            <a:srgbClr val="F0F4FF"/>
                          </a:solidFill>
                          <a:latin typeface="Malgun Gothic"/>
                        </a:rPr>
                        <a:t>$76.27</a:t>
                      </a:r>
                    </a:p>
                  </a:txBody>
                  <a:tcPr anchor="ctr">
                    <a:solidFill>
                      <a:srgbClr val="2A3C64"/>
                    </a:solidFill>
                  </a:tcPr>
                </a:tc>
                <a:tc>
                  <a:txBody>
                    <a:bodyPr wrap="none"/>
                    <a:lstStyle/>
                    <a:p>
                      <a:pPr algn="ctr"/>
                      <a:r>
                        <a:rPr sz="1200" b="0">
                          <a:solidFill>
                            <a:srgbClr val="F0F4FF"/>
                          </a:solidFill>
                          <a:latin typeface="Malgun Gothic"/>
                        </a:rPr>
                        <a:t>+4.41%</a:t>
                      </a:r>
                    </a:p>
                  </a:txBody>
                  <a:tcPr anchor="ctr">
                    <a:solidFill>
                      <a:srgbClr val="2A3C64"/>
                    </a:solidFill>
                  </a:tcPr>
                </a:tc>
                <a:tc>
                  <a:txBody>
                    <a:bodyPr wrap="none"/>
                    <a:lstStyle/>
                    <a:p>
                      <a:pPr algn="ctr"/>
                      <a:r>
                        <a:rPr sz="1200" b="0">
                          <a:solidFill>
                            <a:srgbClr val="F0F4FF"/>
                          </a:solidFill>
                          <a:latin typeface="Malgun Gothic"/>
                        </a:rPr>
                        <a:t>34.19</a:t>
                      </a:r>
                    </a:p>
                  </a:txBody>
                  <a:tcPr anchor="ctr">
                    <a:solidFill>
                      <a:srgbClr val="2A3C64"/>
                    </a:solidFill>
                  </a:tcPr>
                </a:tc>
                <a:tc>
                  <a:txBody>
                    <a:bodyPr wrap="none"/>
                    <a:lstStyle/>
                    <a:p>
                      <a:pPr algn="ctr"/>
                      <a:r>
                        <a:rPr sz="1200" b="0">
                          <a:solidFill>
                            <a:srgbClr val="F0F4FF"/>
                          </a:solidFill>
                          <a:latin typeface="Malgun Gothic"/>
                        </a:rPr>
                        <a:t>40</a:t>
                      </a:r>
                    </a:p>
                  </a:txBody>
                  <a:tcPr anchor="ctr">
                    <a:solidFill>
                      <a:srgbClr val="2A3C64"/>
                    </a:solidFill>
                  </a:tcPr>
                </a:tc>
                <a:tc>
                  <a:txBody>
                    <a:bodyPr wrap="none"/>
                    <a:lstStyle/>
                    <a:p>
                      <a:pPr algn="ctr"/>
                      <a:r>
                        <a:rPr sz="1200" b="0">
                          <a:solidFill>
                            <a:srgbClr val="F0F4FF"/>
                          </a:solidFill>
                          <a:latin typeface="Malgun Gothic"/>
                        </a:rPr>
                        <a:t>$74.04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00D48A"/>
                </a:solidFill>
                <a:latin typeface="Malgun Gothic"/>
              </a:rPr>
              <a:t>✅ 2026-06-05  매수 체결  |  종가 $73.05  |  RSI(2) 2.39  |  F&amp;G 42</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#78]  보유 기간 현황</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7315200" cy="365760"/>
          </a:xfrm>
          <a:prstGeom prst="rect">
            <a:avLst/>
          </a:prstGeom>
          <a:noFill/>
        </p:spPr>
        <p:txBody>
          <a:bodyPr wrap="square">
            <a:spAutoFit/>
          </a:bodyPr>
          <a:lstStyle/>
          <a:p>
            <a:pPr algn="l"/>
            <a:r>
              <a:rPr sz="1400" b="0" i="0">
                <a:solidFill>
                  <a:srgbClr val="889EBC"/>
                </a:solidFill>
                <a:latin typeface="Malgun Gothic"/>
              </a:rPr>
              <a:t>보유 7거래일  |  F&amp;G 차단 발생 0회</a:t>
            </a:r>
          </a:p>
        </p:txBody>
      </p:sp>
      <p:graphicFrame>
        <p:nvGraphicFramePr>
          <p:cNvPr id="6" name="Table 5"/>
          <p:cNvGraphicFramePr>
            <a:graphicFrameLocks noGrp="1"/>
          </p:cNvGraphicFramePr>
          <p:nvPr/>
        </p:nvGraphicFramePr>
        <p:xfrm>
          <a:off x="457200" y="1325880"/>
          <a:ext cx="10881360" cy="4846320"/>
        </p:xfrm>
        <a:graphic>
          <a:graphicData uri="http://schemas.openxmlformats.org/drawingml/2006/table">
            <a:tbl>
              <a:tblPr firstRow="1" bandRow="1">
                <a:tableStyleId>{5C22544A-7EE6-4342-B048-85BDC9FD1C3A}</a:tableStyleId>
              </a:tblPr>
              <a:tblGrid>
                <a:gridCol w="1645920"/>
                <a:gridCol w="1280160"/>
                <a:gridCol w="1188720"/>
                <a:gridCol w="1097280"/>
                <a:gridCol w="914400"/>
                <a:gridCol w="4754880"/>
              </a:tblGrid>
              <a:tr h="605790">
                <a:tc>
                  <a:txBody>
                    <a:bodyPr wrap="none"/>
                    <a:lstStyle/>
                    <a:p>
                      <a:pPr algn="ctr"/>
                      <a:r>
                        <a:rPr sz="1100" b="1">
                          <a:solidFill>
                            <a:srgbClr val="00E5FF"/>
                          </a:solidFill>
                          <a:latin typeface="Malgun Gothic"/>
                        </a:rPr>
                        <a:t>날짜</a:t>
                      </a:r>
                    </a:p>
                  </a:txBody>
                  <a:tcPr anchor="ctr">
                    <a:solidFill>
                      <a:srgbClr val="38507C"/>
                    </a:solidFill>
                  </a:tcPr>
                </a:tc>
                <a:tc>
                  <a:txBody>
                    <a:bodyPr wrap="none"/>
                    <a:lstStyle/>
                    <a:p>
                      <a:pPr algn="ctr"/>
                      <a:r>
                        <a:rPr sz="1100" b="1">
                          <a:solidFill>
                            <a:srgbClr val="00E5FF"/>
                          </a:solidFill>
                          <a:latin typeface="Malgun Gothic"/>
                        </a:rPr>
                        <a:t>종가($)</a:t>
                      </a:r>
                    </a:p>
                  </a:txBody>
                  <a:tcPr anchor="ctr">
                    <a:solidFill>
                      <a:srgbClr val="38507C"/>
                    </a:solidFill>
                  </a:tcPr>
                </a:tc>
                <a:tc>
                  <a:txBody>
                    <a:bodyPr wrap="none"/>
                    <a:lstStyle/>
                    <a:p>
                      <a:pPr algn="ctr"/>
                      <a:r>
                        <a:rPr sz="1100" b="1">
                          <a:solidFill>
                            <a:srgbClr val="00E5FF"/>
                          </a:solidFill>
                          <a:latin typeface="Malgun Gothic"/>
                        </a:rPr>
                        <a:t>등락률(%)</a:t>
                      </a:r>
                    </a:p>
                  </a:txBody>
                  <a:tcPr anchor="ctr">
                    <a:solidFill>
                      <a:srgbClr val="38507C"/>
                    </a:solidFill>
                  </a:tcPr>
                </a:tc>
                <a:tc>
                  <a:txBody>
                    <a:bodyPr wrap="none"/>
                    <a:lstStyle/>
                    <a:p>
                      <a:pPr algn="ctr"/>
                      <a:r>
                        <a:rPr sz="1100" b="1">
                          <a:solidFill>
                            <a:srgbClr val="00E5FF"/>
                          </a:solidFill>
                          <a:latin typeface="Malgun Gothic"/>
                        </a:rPr>
                        <a:t>RSI(2)</a:t>
                      </a:r>
                    </a:p>
                  </a:txBody>
                  <a:tcPr anchor="ctr">
                    <a:solidFill>
                      <a:srgbClr val="38507C"/>
                    </a:solidFill>
                  </a:tcPr>
                </a:tc>
                <a:tc>
                  <a:txBody>
                    <a:bodyPr wrap="none"/>
                    <a:lstStyle/>
                    <a:p>
                      <a:pPr algn="ctr"/>
                      <a:r>
                        <a:rPr sz="1100" b="1">
                          <a:solidFill>
                            <a:srgbClr val="00E5FF"/>
                          </a:solidFill>
                          <a:latin typeface="Malgun Gothic"/>
                        </a:rPr>
                        <a:t>F&amp;G</a:t>
                      </a:r>
                    </a:p>
                  </a:txBody>
                  <a:tcPr anchor="ctr">
                    <a:solidFill>
                      <a:srgbClr val="38507C"/>
                    </a:solidFill>
                  </a:tcPr>
                </a:tc>
                <a:tc>
                  <a:txBody>
                    <a:bodyPr wrap="none"/>
                    <a:lstStyle/>
                    <a:p>
                      <a:pPr algn="ctr"/>
                      <a:r>
                        <a:rPr sz="1100" b="1">
                          <a:solidFill>
                            <a:srgbClr val="00E5FF"/>
                          </a:solidFill>
                          <a:latin typeface="Malgun Gothic"/>
                        </a:rPr>
                        <a:t>차단 / 액션</a:t>
                      </a:r>
                    </a:p>
                  </a:txBody>
                  <a:tcPr anchor="ctr">
                    <a:solidFill>
                      <a:srgbClr val="38507C"/>
                    </a:solidFill>
                  </a:tcPr>
                </a:tc>
              </a:tr>
              <a:tr h="605790">
                <a:tc>
                  <a:txBody>
                    <a:bodyPr wrap="none"/>
                    <a:lstStyle/>
                    <a:p>
                      <a:pPr algn="ctr"/>
                      <a:r>
                        <a:rPr sz="1100" b="1">
                          <a:solidFill>
                            <a:srgbClr val="00D48A"/>
                          </a:solidFill>
                          <a:latin typeface="Malgun Gothic"/>
                        </a:rPr>
                        <a:t>2026-06-05</a:t>
                      </a:r>
                    </a:p>
                  </a:txBody>
                  <a:tcPr anchor="ctr">
                    <a:solidFill>
                      <a:srgbClr val="38507C"/>
                    </a:solidFill>
                  </a:tcPr>
                </a:tc>
                <a:tc>
                  <a:txBody>
                    <a:bodyPr wrap="none"/>
                    <a:lstStyle/>
                    <a:p>
                      <a:pPr algn="ctr"/>
                      <a:r>
                        <a:rPr sz="1100" b="1">
                          <a:solidFill>
                            <a:srgbClr val="00D48A"/>
                          </a:solidFill>
                          <a:latin typeface="Malgun Gothic"/>
                        </a:rPr>
                        <a:t>$73.05</a:t>
                      </a:r>
                    </a:p>
                  </a:txBody>
                  <a:tcPr anchor="ctr">
                    <a:solidFill>
                      <a:srgbClr val="38507C"/>
                    </a:solidFill>
                  </a:tcPr>
                </a:tc>
                <a:tc>
                  <a:txBody>
                    <a:bodyPr wrap="none"/>
                    <a:lstStyle/>
                    <a:p>
                      <a:pPr algn="ctr"/>
                      <a:r>
                        <a:rPr sz="1100" b="1">
                          <a:solidFill>
                            <a:srgbClr val="00D48A"/>
                          </a:solidFill>
                          <a:latin typeface="Malgun Gothic"/>
                        </a:rPr>
                        <a:t>-14.28%</a:t>
                      </a:r>
                    </a:p>
                  </a:txBody>
                  <a:tcPr anchor="ctr">
                    <a:solidFill>
                      <a:srgbClr val="38507C"/>
                    </a:solidFill>
                  </a:tcPr>
                </a:tc>
                <a:tc>
                  <a:txBody>
                    <a:bodyPr wrap="none"/>
                    <a:lstStyle/>
                    <a:p>
                      <a:pPr algn="ctr"/>
                      <a:r>
                        <a:rPr sz="1100" b="1">
                          <a:solidFill>
                            <a:srgbClr val="00D48A"/>
                          </a:solidFill>
                          <a:latin typeface="Malgun Gothic"/>
                        </a:rPr>
                        <a:t>2.39</a:t>
                      </a:r>
                    </a:p>
                  </a:txBody>
                  <a:tcPr anchor="ctr">
                    <a:solidFill>
                      <a:srgbClr val="38507C"/>
                    </a:solidFill>
                  </a:tcPr>
                </a:tc>
                <a:tc>
                  <a:txBody>
                    <a:bodyPr wrap="none"/>
                    <a:lstStyle/>
                    <a:p>
                      <a:pPr algn="ctr"/>
                      <a:r>
                        <a:rPr sz="1100" b="1">
                          <a:solidFill>
                            <a:srgbClr val="00D48A"/>
                          </a:solidFill>
                          <a:latin typeface="Malgun Gothic"/>
                        </a:rPr>
                        <a:t>42</a:t>
                      </a:r>
                    </a:p>
                  </a:txBody>
                  <a:tcPr anchor="ctr">
                    <a:solidFill>
                      <a:srgbClr val="38507C"/>
                    </a:solidFill>
                  </a:tcPr>
                </a:tc>
                <a:tc>
                  <a:txBody>
                    <a:bodyPr wrap="none"/>
                    <a:lstStyle/>
                    <a:p>
                      <a:pPr algn="ctr"/>
                      <a:r>
                        <a:rPr sz="1100" b="1">
                          <a:solidFill>
                            <a:srgbClr val="00D48A"/>
                          </a:solidFill>
                          <a:latin typeface="Malgun Gothic"/>
                        </a:rPr>
                        <a:t>★ BUY</a:t>
                      </a:r>
                    </a:p>
                  </a:txBody>
                  <a:tcPr anchor="ctr">
                    <a:solidFill>
                      <a:srgbClr val="38507C"/>
                    </a:solidFill>
                  </a:tcPr>
                </a:tc>
              </a:tr>
              <a:tr h="605790">
                <a:tc>
                  <a:txBody>
                    <a:bodyPr wrap="none"/>
                    <a:lstStyle/>
                    <a:p>
                      <a:pPr algn="ctr"/>
                      <a:r>
                        <a:rPr sz="1100" b="0">
                          <a:solidFill>
                            <a:srgbClr val="F0F4FF"/>
                          </a:solidFill>
                          <a:latin typeface="Malgun Gothic"/>
                        </a:rPr>
                        <a:t>2026-06-08</a:t>
                      </a:r>
                    </a:p>
                  </a:txBody>
                  <a:tcPr anchor="ctr">
                    <a:solidFill>
                      <a:srgbClr val="2A3C64"/>
                    </a:solidFill>
                  </a:tcPr>
                </a:tc>
                <a:tc>
                  <a:txBody>
                    <a:bodyPr wrap="none"/>
                    <a:lstStyle/>
                    <a:p>
                      <a:pPr algn="ctr"/>
                      <a:r>
                        <a:rPr sz="1100" b="0">
                          <a:solidFill>
                            <a:srgbClr val="F0F4FF"/>
                          </a:solidFill>
                          <a:latin typeface="Malgun Gothic"/>
                        </a:rPr>
                        <a:t>$76.27</a:t>
                      </a:r>
                    </a:p>
                  </a:txBody>
                  <a:tcPr anchor="ctr">
                    <a:solidFill>
                      <a:srgbClr val="2A3C64"/>
                    </a:solidFill>
                  </a:tcPr>
                </a:tc>
                <a:tc>
                  <a:txBody>
                    <a:bodyPr wrap="none"/>
                    <a:lstStyle/>
                    <a:p>
                      <a:pPr algn="ctr"/>
                      <a:r>
                        <a:rPr sz="1100" b="0">
                          <a:solidFill>
                            <a:srgbClr val="F0F4FF"/>
                          </a:solidFill>
                          <a:latin typeface="Malgun Gothic"/>
                        </a:rPr>
                        <a:t>+4.41%</a:t>
                      </a:r>
                    </a:p>
                  </a:txBody>
                  <a:tcPr anchor="ctr">
                    <a:solidFill>
                      <a:srgbClr val="2A3C64"/>
                    </a:solidFill>
                  </a:tcPr>
                </a:tc>
                <a:tc>
                  <a:txBody>
                    <a:bodyPr wrap="none"/>
                    <a:lstStyle/>
                    <a:p>
                      <a:pPr algn="ctr"/>
                      <a:r>
                        <a:rPr sz="1100" b="0">
                          <a:solidFill>
                            <a:srgbClr val="F0F4FF"/>
                          </a:solidFill>
                          <a:latin typeface="Malgun Gothic"/>
                        </a:rPr>
                        <a:t>34.19</a:t>
                      </a:r>
                    </a:p>
                  </a:txBody>
                  <a:tcPr anchor="ctr">
                    <a:solidFill>
                      <a:srgbClr val="2A3C64"/>
                    </a:solidFill>
                  </a:tcPr>
                </a:tc>
                <a:tc>
                  <a:txBody>
                    <a:bodyPr wrap="none"/>
                    <a:lstStyle/>
                    <a:p>
                      <a:pPr algn="ctr"/>
                      <a:r>
                        <a:rPr sz="1100" b="0">
                          <a:solidFill>
                            <a:srgbClr val="F0F4FF"/>
                          </a:solidFill>
                          <a:latin typeface="Malgun Gothic"/>
                        </a:rPr>
                        <a:t>40</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605790">
                <a:tc>
                  <a:txBody>
                    <a:bodyPr wrap="none"/>
                    <a:lstStyle/>
                    <a:p>
                      <a:pPr algn="ctr"/>
                      <a:r>
                        <a:rPr sz="1100" b="0">
                          <a:solidFill>
                            <a:srgbClr val="F0F4FF"/>
                          </a:solidFill>
                          <a:latin typeface="Malgun Gothic"/>
                        </a:rPr>
                        <a:t>2026-06-09</a:t>
                      </a:r>
                    </a:p>
                  </a:txBody>
                  <a:tcPr anchor="ctr">
                    <a:solidFill>
                      <a:srgbClr val="2A3C64"/>
                    </a:solidFill>
                  </a:tcPr>
                </a:tc>
                <a:tc>
                  <a:txBody>
                    <a:bodyPr wrap="none"/>
                    <a:lstStyle/>
                    <a:p>
                      <a:pPr algn="ctr"/>
                      <a:r>
                        <a:rPr sz="1100" b="0">
                          <a:solidFill>
                            <a:srgbClr val="F0F4FF"/>
                          </a:solidFill>
                          <a:latin typeface="Malgun Gothic"/>
                        </a:rPr>
                        <a:t>$73.72</a:t>
                      </a:r>
                    </a:p>
                  </a:txBody>
                  <a:tcPr anchor="ctr">
                    <a:solidFill>
                      <a:srgbClr val="2A3C64"/>
                    </a:solidFill>
                  </a:tcPr>
                </a:tc>
                <a:tc>
                  <a:txBody>
                    <a:bodyPr wrap="none"/>
                    <a:lstStyle/>
                    <a:p>
                      <a:pPr algn="ctr"/>
                      <a:r>
                        <a:rPr sz="1100" b="0">
                          <a:solidFill>
                            <a:srgbClr val="F0F4FF"/>
                          </a:solidFill>
                          <a:latin typeface="Malgun Gothic"/>
                        </a:rPr>
                        <a:t>-3.34%</a:t>
                      </a:r>
                    </a:p>
                  </a:txBody>
                  <a:tcPr anchor="ctr">
                    <a:solidFill>
                      <a:srgbClr val="2A3C64"/>
                    </a:solidFill>
                  </a:tcPr>
                </a:tc>
                <a:tc>
                  <a:txBody>
                    <a:bodyPr wrap="none"/>
                    <a:lstStyle/>
                    <a:p>
                      <a:pPr algn="ctr"/>
                      <a:r>
                        <a:rPr sz="1100" b="0">
                          <a:solidFill>
                            <a:srgbClr val="F0F4FF"/>
                          </a:solidFill>
                          <a:latin typeface="Malgun Gothic"/>
                        </a:rPr>
                        <a:t>22.55</a:t>
                      </a:r>
                    </a:p>
                  </a:txBody>
                  <a:tcPr anchor="ctr">
                    <a:solidFill>
                      <a:srgbClr val="2A3C64"/>
                    </a:solidFill>
                  </a:tcPr>
                </a:tc>
                <a:tc>
                  <a:txBody>
                    <a:bodyPr wrap="none"/>
                    <a:lstStyle/>
                    <a:p>
                      <a:pPr algn="ctr"/>
                      <a:r>
                        <a:rPr sz="1100" b="0">
                          <a:solidFill>
                            <a:srgbClr val="F0F4FF"/>
                          </a:solidFill>
                          <a:latin typeface="Malgun Gothic"/>
                        </a:rPr>
                        <a:t>32</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605790">
                <a:tc>
                  <a:txBody>
                    <a:bodyPr wrap="none"/>
                    <a:lstStyle/>
                    <a:p>
                      <a:pPr algn="ctr"/>
                      <a:r>
                        <a:rPr sz="1100" b="0">
                          <a:solidFill>
                            <a:srgbClr val="F0F4FF"/>
                          </a:solidFill>
                          <a:latin typeface="Malgun Gothic"/>
                        </a:rPr>
                        <a:t>2026-06-10</a:t>
                      </a:r>
                    </a:p>
                  </a:txBody>
                  <a:tcPr anchor="ctr">
                    <a:solidFill>
                      <a:srgbClr val="2A3C64"/>
                    </a:solidFill>
                  </a:tcPr>
                </a:tc>
                <a:tc>
                  <a:txBody>
                    <a:bodyPr wrap="none"/>
                    <a:lstStyle/>
                    <a:p>
                      <a:pPr algn="ctr"/>
                      <a:r>
                        <a:rPr sz="1100" b="0">
                          <a:solidFill>
                            <a:srgbClr val="F0F4FF"/>
                          </a:solidFill>
                          <a:latin typeface="Malgun Gothic"/>
                        </a:rPr>
                        <a:t>$69.27</a:t>
                      </a:r>
                    </a:p>
                  </a:txBody>
                  <a:tcPr anchor="ctr">
                    <a:solidFill>
                      <a:srgbClr val="2A3C64"/>
                    </a:solidFill>
                  </a:tcPr>
                </a:tc>
                <a:tc>
                  <a:txBody>
                    <a:bodyPr wrap="none"/>
                    <a:lstStyle/>
                    <a:p>
                      <a:pPr algn="ctr"/>
                      <a:r>
                        <a:rPr sz="1100" b="0">
                          <a:solidFill>
                            <a:srgbClr val="F0F4FF"/>
                          </a:solidFill>
                          <a:latin typeface="Malgun Gothic"/>
                        </a:rPr>
                        <a:t>-6.04%</a:t>
                      </a:r>
                    </a:p>
                  </a:txBody>
                  <a:tcPr anchor="ctr">
                    <a:solidFill>
                      <a:srgbClr val="2A3C64"/>
                    </a:solidFill>
                  </a:tcPr>
                </a:tc>
                <a:tc>
                  <a:txBody>
                    <a:bodyPr wrap="none"/>
                    <a:lstStyle/>
                    <a:p>
                      <a:pPr algn="ctr"/>
                      <a:r>
                        <a:rPr sz="1100" b="0">
                          <a:solidFill>
                            <a:srgbClr val="F0F4FF"/>
                          </a:solidFill>
                          <a:latin typeface="Malgun Gothic"/>
                        </a:rPr>
                        <a:t>10.31</a:t>
                      </a:r>
                    </a:p>
                  </a:txBody>
                  <a:tcPr anchor="ctr">
                    <a:solidFill>
                      <a:srgbClr val="2A3C64"/>
                    </a:solidFill>
                  </a:tcPr>
                </a:tc>
                <a:tc>
                  <a:txBody>
                    <a:bodyPr wrap="none"/>
                    <a:lstStyle/>
                    <a:p>
                      <a:pPr algn="ctr"/>
                      <a:r>
                        <a:rPr sz="1100" b="0">
                          <a:solidFill>
                            <a:srgbClr val="F0F4FF"/>
                          </a:solidFill>
                          <a:latin typeface="Malgun Gothic"/>
                        </a:rPr>
                        <a:t>27</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605790">
                <a:tc>
                  <a:txBody>
                    <a:bodyPr wrap="none"/>
                    <a:lstStyle/>
                    <a:p>
                      <a:pPr algn="ctr"/>
                      <a:r>
                        <a:rPr sz="1100" b="0">
                          <a:solidFill>
                            <a:srgbClr val="F0F4FF"/>
                          </a:solidFill>
                          <a:latin typeface="Malgun Gothic"/>
                        </a:rPr>
                        <a:t>2026-06-11</a:t>
                      </a:r>
                    </a:p>
                  </a:txBody>
                  <a:tcPr anchor="ctr">
                    <a:solidFill>
                      <a:srgbClr val="2A3C64"/>
                    </a:solidFill>
                  </a:tcPr>
                </a:tc>
                <a:tc>
                  <a:txBody>
                    <a:bodyPr wrap="none"/>
                    <a:lstStyle/>
                    <a:p>
                      <a:pPr algn="ctr"/>
                      <a:r>
                        <a:rPr sz="1100" b="0">
                          <a:solidFill>
                            <a:srgbClr val="F0F4FF"/>
                          </a:solidFill>
                          <a:latin typeface="Malgun Gothic"/>
                        </a:rPr>
                        <a:t>$76.01</a:t>
                      </a:r>
                    </a:p>
                  </a:txBody>
                  <a:tcPr anchor="ctr">
                    <a:solidFill>
                      <a:srgbClr val="2A3C64"/>
                    </a:solidFill>
                  </a:tcPr>
                </a:tc>
                <a:tc>
                  <a:txBody>
                    <a:bodyPr wrap="none"/>
                    <a:lstStyle/>
                    <a:p>
                      <a:pPr algn="ctr"/>
                      <a:r>
                        <a:rPr sz="1100" b="0">
                          <a:solidFill>
                            <a:srgbClr val="F0F4FF"/>
                          </a:solidFill>
                          <a:latin typeface="Malgun Gothic"/>
                        </a:rPr>
                        <a:t>+9.73%</a:t>
                      </a:r>
                    </a:p>
                  </a:txBody>
                  <a:tcPr anchor="ctr">
                    <a:solidFill>
                      <a:srgbClr val="2A3C64"/>
                    </a:solidFill>
                  </a:tcPr>
                </a:tc>
                <a:tc>
                  <a:txBody>
                    <a:bodyPr wrap="none"/>
                    <a:lstStyle/>
                    <a:p>
                      <a:pPr algn="ctr"/>
                      <a:r>
                        <a:rPr sz="1100" b="0">
                          <a:solidFill>
                            <a:srgbClr val="F0F4FF"/>
                          </a:solidFill>
                          <a:latin typeface="Malgun Gothic"/>
                        </a:rPr>
                        <a:t>66.09</a:t>
                      </a:r>
                    </a:p>
                  </a:txBody>
                  <a:tcPr anchor="ctr">
                    <a:solidFill>
                      <a:srgbClr val="2A3C64"/>
                    </a:solidFill>
                  </a:tcPr>
                </a:tc>
                <a:tc>
                  <a:txBody>
                    <a:bodyPr wrap="none"/>
                    <a:lstStyle/>
                    <a:p>
                      <a:pPr algn="ctr"/>
                      <a:r>
                        <a:rPr sz="1100" b="0">
                          <a:solidFill>
                            <a:srgbClr val="F0F4FF"/>
                          </a:solidFill>
                          <a:latin typeface="Malgun Gothic"/>
                        </a:rPr>
                        <a:t>32</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605790">
                <a:tc>
                  <a:txBody>
                    <a:bodyPr wrap="none"/>
                    <a:lstStyle/>
                    <a:p>
                      <a:pPr algn="ctr"/>
                      <a:r>
                        <a:rPr sz="1100" b="0">
                          <a:solidFill>
                            <a:srgbClr val="F0F4FF"/>
                          </a:solidFill>
                          <a:latin typeface="Malgun Gothic"/>
                        </a:rPr>
                        <a:t>2026-06-12</a:t>
                      </a:r>
                    </a:p>
                  </a:txBody>
                  <a:tcPr anchor="ctr">
                    <a:solidFill>
                      <a:srgbClr val="2A3C64"/>
                    </a:solidFill>
                  </a:tcPr>
                </a:tc>
                <a:tc>
                  <a:txBody>
                    <a:bodyPr wrap="none"/>
                    <a:lstStyle/>
                    <a:p>
                      <a:pPr algn="ctr"/>
                      <a:r>
                        <a:rPr sz="1100" b="0">
                          <a:solidFill>
                            <a:srgbClr val="F0F4FF"/>
                          </a:solidFill>
                          <a:latin typeface="Malgun Gothic"/>
                        </a:rPr>
                        <a:t>$77.52</a:t>
                      </a:r>
                    </a:p>
                  </a:txBody>
                  <a:tcPr anchor="ctr">
                    <a:solidFill>
                      <a:srgbClr val="2A3C64"/>
                    </a:solidFill>
                  </a:tcPr>
                </a:tc>
                <a:tc>
                  <a:txBody>
                    <a:bodyPr wrap="none"/>
                    <a:lstStyle/>
                    <a:p>
                      <a:pPr algn="ctr"/>
                      <a:r>
                        <a:rPr sz="1100" b="0">
                          <a:solidFill>
                            <a:srgbClr val="F0F4FF"/>
                          </a:solidFill>
                          <a:latin typeface="Malgun Gothic"/>
                        </a:rPr>
                        <a:t>+1.99%</a:t>
                      </a:r>
                    </a:p>
                  </a:txBody>
                  <a:tcPr anchor="ctr">
                    <a:solidFill>
                      <a:srgbClr val="2A3C64"/>
                    </a:solidFill>
                  </a:tcPr>
                </a:tc>
                <a:tc>
                  <a:txBody>
                    <a:bodyPr wrap="none"/>
                    <a:lstStyle/>
                    <a:p>
                      <a:pPr algn="ctr"/>
                      <a:r>
                        <a:rPr sz="1100" b="0">
                          <a:solidFill>
                            <a:srgbClr val="F0F4FF"/>
                          </a:solidFill>
                          <a:latin typeface="Malgun Gothic"/>
                        </a:rPr>
                        <a:t>73.48</a:t>
                      </a:r>
                    </a:p>
                  </a:txBody>
                  <a:tcPr anchor="ctr">
                    <a:solidFill>
                      <a:srgbClr val="2A3C64"/>
                    </a:solidFill>
                  </a:tcPr>
                </a:tc>
                <a:tc>
                  <a:txBody>
                    <a:bodyPr wrap="none"/>
                    <a:lstStyle/>
                    <a:p>
                      <a:pPr algn="ctr"/>
                      <a:r>
                        <a:rPr sz="1100" b="0">
                          <a:solidFill>
                            <a:srgbClr val="F0F4FF"/>
                          </a:solidFill>
                          <a:latin typeface="Malgun Gothic"/>
                        </a:rPr>
                        <a:t>36</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605790">
                <a:tc>
                  <a:txBody>
                    <a:bodyPr wrap="none"/>
                    <a:lstStyle/>
                    <a:p>
                      <a:pPr algn="ctr"/>
                      <a:r>
                        <a:rPr sz="1100" b="1">
                          <a:solidFill>
                            <a:srgbClr val="FF4D6D"/>
                          </a:solidFill>
                          <a:latin typeface="Malgun Gothic"/>
                        </a:rPr>
                        <a:t>2026-06-15</a:t>
                      </a:r>
                    </a:p>
                  </a:txBody>
                  <a:tcPr anchor="ctr">
                    <a:solidFill>
                      <a:srgbClr val="38507C"/>
                    </a:solidFill>
                  </a:tcPr>
                </a:tc>
                <a:tc>
                  <a:txBody>
                    <a:bodyPr wrap="none"/>
                    <a:lstStyle/>
                    <a:p>
                      <a:pPr algn="ctr"/>
                      <a:r>
                        <a:rPr sz="1100" b="1">
                          <a:solidFill>
                            <a:srgbClr val="FF4D6D"/>
                          </a:solidFill>
                          <a:latin typeface="Malgun Gothic"/>
                        </a:rPr>
                        <a:t>$84.59</a:t>
                      </a:r>
                    </a:p>
                  </a:txBody>
                  <a:tcPr anchor="ctr">
                    <a:solidFill>
                      <a:srgbClr val="38507C"/>
                    </a:solidFill>
                  </a:tcPr>
                </a:tc>
                <a:tc>
                  <a:txBody>
                    <a:bodyPr wrap="none"/>
                    <a:lstStyle/>
                    <a:p>
                      <a:pPr algn="ctr"/>
                      <a:r>
                        <a:rPr sz="1100" b="1">
                          <a:solidFill>
                            <a:srgbClr val="FF4D6D"/>
                          </a:solidFill>
                          <a:latin typeface="Malgun Gothic"/>
                        </a:rPr>
                        <a:t>+9.12%</a:t>
                      </a:r>
                    </a:p>
                  </a:txBody>
                  <a:tcPr anchor="ctr">
                    <a:solidFill>
                      <a:srgbClr val="38507C"/>
                    </a:solidFill>
                  </a:tcPr>
                </a:tc>
                <a:tc>
                  <a:txBody>
                    <a:bodyPr wrap="none"/>
                    <a:lstStyle/>
                    <a:p>
                      <a:pPr algn="ctr"/>
                      <a:r>
                        <a:rPr sz="1100" b="1">
                          <a:solidFill>
                            <a:srgbClr val="FF4D6D"/>
                          </a:solidFill>
                          <a:latin typeface="Malgun Gothic"/>
                        </a:rPr>
                        <a:t>91.28</a:t>
                      </a:r>
                    </a:p>
                  </a:txBody>
                  <a:tcPr anchor="ctr">
                    <a:solidFill>
                      <a:srgbClr val="38507C"/>
                    </a:solidFill>
                  </a:tcPr>
                </a:tc>
                <a:tc>
                  <a:txBody>
                    <a:bodyPr wrap="none"/>
                    <a:lstStyle/>
                    <a:p>
                      <a:pPr algn="ctr"/>
                      <a:r>
                        <a:rPr sz="1100" b="1">
                          <a:solidFill>
                            <a:srgbClr val="FF4D6D"/>
                          </a:solidFill>
                          <a:latin typeface="Malgun Gothic"/>
                        </a:rPr>
                        <a:t>42</a:t>
                      </a:r>
                    </a:p>
                  </a:txBody>
                  <a:tcPr anchor="ctr">
                    <a:solidFill>
                      <a:srgbClr val="38507C"/>
                    </a:solidFill>
                  </a:tcPr>
                </a:tc>
                <a:tc>
                  <a:txBody>
                    <a:bodyPr wrap="none"/>
                    <a:lstStyle/>
                    <a:p>
                      <a:pPr algn="ctr"/>
                      <a:r>
                        <a:rPr sz="1100" b="1">
                          <a:solidFill>
                            <a:srgbClr val="FF4D6D"/>
                          </a:solidFill>
                          <a:latin typeface="Malgun Gothic"/>
                        </a:rPr>
                        <a:t>▼ SELL</a:t>
                      </a:r>
                    </a:p>
                  </a:txBody>
                  <a:tcPr anchor="ctr">
                    <a:solidFill>
                      <a:srgbClr val="38507C"/>
                    </a:solidFill>
                  </a:tcPr>
                </a:tc>
              </a:tr>
            </a:tbl>
          </a:graphicData>
        </a:graphic>
      </p:graphicFrame>
      <p:sp>
        <p:nvSpPr>
          <p:cNvPr id="7" name="TextBox 6"/>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[TQQQ Cycle #78]  매도 신호 분석</a:t>
            </a:r>
          </a:p>
        </p:txBody>
      </p:sp>
      <p:sp>
        <p:nvSpPr>
          <p:cNvPr id="4" name="Rectangle 3"/>
          <p:cNvSpPr/>
          <p:nvPr/>
        </p:nvSpPr>
        <p:spPr>
          <a:xfrm>
            <a:off x="365760" y="749808"/>
            <a:ext cx="11457432" cy="1905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매도 신호 조건:  RSI(2) ≥ 75.0  (전일 종가 역산 LOC 기준가 이상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2026-06-05</a:t>
                      </a:r>
                    </a:p>
                  </a:txBody>
                  <a:tcPr anchor="ctr">
                    <a:solidFill>
                      <a:srgbClr val="2A3C64"/>
                    </a:solidFill>
                  </a:tcPr>
                </a:tc>
                <a:tc>
                  <a:txBody>
                    <a:bodyPr wrap="none"/>
                    <a:lstStyle/>
                    <a:p>
                      <a:pPr algn="ctr"/>
                      <a:r>
                        <a:rPr sz="1200" b="0">
                          <a:solidFill>
                            <a:srgbClr val="F0F4FF"/>
                          </a:solidFill>
                          <a:latin typeface="Malgun Gothic"/>
                        </a:rPr>
                        <a:t>$73.05</a:t>
                      </a:r>
                    </a:p>
                  </a:txBody>
                  <a:tcPr anchor="ctr">
                    <a:solidFill>
                      <a:srgbClr val="2A3C64"/>
                    </a:solidFill>
                  </a:tcPr>
                </a:tc>
                <a:tc>
                  <a:txBody>
                    <a:bodyPr wrap="none"/>
                    <a:lstStyle/>
                    <a:p>
                      <a:pPr algn="ctr"/>
                      <a:r>
                        <a:rPr sz="1200" b="0">
                          <a:solidFill>
                            <a:srgbClr val="F0F4FF"/>
                          </a:solidFill>
                          <a:latin typeface="Malgun Gothic"/>
                        </a:rPr>
                        <a:t>-14.28%</a:t>
                      </a:r>
                    </a:p>
                  </a:txBody>
                  <a:tcPr anchor="ctr">
                    <a:solidFill>
                      <a:srgbClr val="2A3C64"/>
                    </a:solidFill>
                  </a:tcPr>
                </a:tc>
                <a:tc>
                  <a:txBody>
                    <a:bodyPr wrap="none"/>
                    <a:lstStyle/>
                    <a:p>
                      <a:pPr algn="ctr"/>
                      <a:r>
                        <a:rPr sz="1200" b="0">
                          <a:solidFill>
                            <a:srgbClr val="F0F4FF"/>
                          </a:solidFill>
                          <a:latin typeface="Malgun Gothic"/>
                        </a:rPr>
                        <a:t>2.39</a:t>
                      </a:r>
                    </a:p>
                  </a:txBody>
                  <a:tcPr anchor="ctr">
                    <a:solidFill>
                      <a:srgbClr val="2A3C64"/>
                    </a:solidFill>
                  </a:tcPr>
                </a:tc>
                <a:tc>
                  <a:txBody>
                    <a:bodyPr wrap="none"/>
                    <a:lstStyle/>
                    <a:p>
                      <a:pPr algn="ctr"/>
                      <a:r>
                        <a:rPr sz="1200" b="0">
                          <a:solidFill>
                            <a:srgbClr val="F0F4FF"/>
                          </a:solidFill>
                          <a:latin typeface="Malgun Gothic"/>
                        </a:rPr>
                        <a:t>42</a:t>
                      </a:r>
                    </a:p>
                  </a:txBody>
                  <a:tcPr anchor="ctr">
                    <a:solidFill>
                      <a:srgbClr val="2A3C64"/>
                    </a:solidFill>
                  </a:tcPr>
                </a:tc>
                <a:tc>
                  <a:txBody>
                    <a:bodyPr wrap="none"/>
                    <a:lstStyle/>
                    <a:p>
                      <a:pPr algn="ctr"/>
                      <a:r>
                        <a:rPr sz="1200" b="0">
                          <a:solidFill>
                            <a:srgbClr val="F0F4FF"/>
                          </a:solidFill>
                          <a:latin typeface="Malgun Gothic"/>
                        </a:rPr>
                        <a:t>$87.41</a:t>
                      </a:r>
                    </a:p>
                  </a:txBody>
                  <a:tcPr anchor="ctr">
                    <a:solidFill>
                      <a:srgbClr val="2A3C64"/>
                    </a:solidFill>
                  </a:tcPr>
                </a:tc>
                <a:tc>
                  <a:txBody>
                    <a:bodyPr wrap="none"/>
                    <a:lstStyle/>
                    <a:p>
                      <a:pPr algn="ctr"/>
                      <a:r>
                        <a:rPr sz="1200" b="0">
                          <a:solidFill>
                            <a:srgbClr val="F0F4FF"/>
                          </a:solidFill>
                          <a:latin typeface="Malgun Gothic"/>
                        </a:rPr>
                        <a:t>BUY</a:t>
                      </a:r>
                    </a:p>
                  </a:txBody>
                  <a:tcPr anchor="ctr">
                    <a:solidFill>
                      <a:srgbClr val="2A3C64"/>
                    </a:solidFill>
                  </a:tcPr>
                </a:tc>
              </a:tr>
              <a:tr h="457200">
                <a:tc>
                  <a:txBody>
                    <a:bodyPr wrap="none"/>
                    <a:lstStyle/>
                    <a:p>
                      <a:pPr algn="ctr"/>
                      <a:r>
                        <a:rPr sz="1200" b="0">
                          <a:solidFill>
                            <a:srgbClr val="F0F4FF"/>
                          </a:solidFill>
                          <a:latin typeface="Malgun Gothic"/>
                        </a:rPr>
                        <a:t>2026-06-08</a:t>
                      </a:r>
                    </a:p>
                  </a:txBody>
                  <a:tcPr anchor="ctr">
                    <a:solidFill>
                      <a:srgbClr val="2A3C64"/>
                    </a:solidFill>
                  </a:tcPr>
                </a:tc>
                <a:tc>
                  <a:txBody>
                    <a:bodyPr wrap="none"/>
                    <a:lstStyle/>
                    <a:p>
                      <a:pPr algn="ctr"/>
                      <a:r>
                        <a:rPr sz="1200" b="0">
                          <a:solidFill>
                            <a:srgbClr val="F0F4FF"/>
                          </a:solidFill>
                          <a:latin typeface="Malgun Gothic"/>
                        </a:rPr>
                        <a:t>$76.27</a:t>
                      </a:r>
                    </a:p>
                  </a:txBody>
                  <a:tcPr anchor="ctr">
                    <a:solidFill>
                      <a:srgbClr val="2A3C64"/>
                    </a:solidFill>
                  </a:tcPr>
                </a:tc>
                <a:tc>
                  <a:txBody>
                    <a:bodyPr wrap="none"/>
                    <a:lstStyle/>
                    <a:p>
                      <a:pPr algn="ctr"/>
                      <a:r>
                        <a:rPr sz="1200" b="0">
                          <a:solidFill>
                            <a:srgbClr val="F0F4FF"/>
                          </a:solidFill>
                          <a:latin typeface="Malgun Gothic"/>
                        </a:rPr>
                        <a:t>+4.41%</a:t>
                      </a:r>
                    </a:p>
                  </a:txBody>
                  <a:tcPr anchor="ctr">
                    <a:solidFill>
                      <a:srgbClr val="2A3C64"/>
                    </a:solidFill>
                  </a:tcPr>
                </a:tc>
                <a:tc>
                  <a:txBody>
                    <a:bodyPr wrap="none"/>
                    <a:lstStyle/>
                    <a:p>
                      <a:pPr algn="ctr"/>
                      <a:r>
                        <a:rPr sz="1200" b="0">
                          <a:solidFill>
                            <a:srgbClr val="F0F4FF"/>
                          </a:solidFill>
                          <a:latin typeface="Malgun Gothic"/>
                        </a:rPr>
                        <a:t>34.19</a:t>
                      </a:r>
                    </a:p>
                  </a:txBody>
                  <a:tcPr anchor="ctr">
                    <a:solidFill>
                      <a:srgbClr val="2A3C64"/>
                    </a:solidFill>
                  </a:tcPr>
                </a:tc>
                <a:tc>
                  <a:txBody>
                    <a:bodyPr wrap="none"/>
                    <a:lstStyle/>
                    <a:p>
                      <a:pPr algn="ctr"/>
                      <a:r>
                        <a:rPr sz="1200" b="0">
                          <a:solidFill>
                            <a:srgbClr val="F0F4FF"/>
                          </a:solidFill>
                          <a:latin typeface="Malgun Gothic"/>
                        </a:rPr>
                        <a:t>40</a:t>
                      </a:r>
                    </a:p>
                  </a:txBody>
                  <a:tcPr anchor="ctr">
                    <a:solidFill>
                      <a:srgbClr val="2A3C64"/>
                    </a:solidFill>
                  </a:tcPr>
                </a:tc>
                <a:tc>
                  <a:txBody>
                    <a:bodyPr wrap="none"/>
                    <a:lstStyle/>
                    <a:p>
                      <a:pPr algn="ctr"/>
                      <a:r>
                        <a:rPr sz="1200" b="0">
                          <a:solidFill>
                            <a:srgbClr val="F0F4FF"/>
                          </a:solidFill>
                          <a:latin typeface="Malgun Gothic"/>
                        </a:rPr>
                        <a:t>$92.4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2026-06-09</a:t>
                      </a:r>
                    </a:p>
                  </a:txBody>
                  <a:tcPr anchor="ctr">
                    <a:solidFill>
                      <a:srgbClr val="2A3C64"/>
                    </a:solidFill>
                  </a:tcPr>
                </a:tc>
                <a:tc>
                  <a:txBody>
                    <a:bodyPr wrap="none"/>
                    <a:lstStyle/>
                    <a:p>
                      <a:pPr algn="ctr"/>
                      <a:r>
                        <a:rPr sz="1200" b="0">
                          <a:solidFill>
                            <a:srgbClr val="F0F4FF"/>
                          </a:solidFill>
                          <a:latin typeface="Malgun Gothic"/>
                        </a:rPr>
                        <a:t>$73.72</a:t>
                      </a:r>
                    </a:p>
                  </a:txBody>
                  <a:tcPr anchor="ctr">
                    <a:solidFill>
                      <a:srgbClr val="2A3C64"/>
                    </a:solidFill>
                  </a:tcPr>
                </a:tc>
                <a:tc>
                  <a:txBody>
                    <a:bodyPr wrap="none"/>
                    <a:lstStyle/>
                    <a:p>
                      <a:pPr algn="ctr"/>
                      <a:r>
                        <a:rPr sz="1200" b="0">
                          <a:solidFill>
                            <a:srgbClr val="F0F4FF"/>
                          </a:solidFill>
                          <a:latin typeface="Malgun Gothic"/>
                        </a:rPr>
                        <a:t>-3.34%</a:t>
                      </a:r>
                    </a:p>
                  </a:txBody>
                  <a:tcPr anchor="ctr">
                    <a:solidFill>
                      <a:srgbClr val="2A3C64"/>
                    </a:solidFill>
                  </a:tcPr>
                </a:tc>
                <a:tc>
                  <a:txBody>
                    <a:bodyPr wrap="none"/>
                    <a:lstStyle/>
                    <a:p>
                      <a:pPr algn="ctr"/>
                      <a:r>
                        <a:rPr sz="1200" b="0">
                          <a:solidFill>
                            <a:srgbClr val="F0F4FF"/>
                          </a:solidFill>
                          <a:latin typeface="Malgun Gothic"/>
                        </a:rPr>
                        <a:t>22.55</a:t>
                      </a:r>
                    </a:p>
                  </a:txBody>
                  <a:tcPr anchor="ctr">
                    <a:solidFill>
                      <a:srgbClr val="2A3C64"/>
                    </a:solidFill>
                  </a:tcPr>
                </a:tc>
                <a:tc>
                  <a:txBody>
                    <a:bodyPr wrap="none"/>
                    <a:lstStyle/>
                    <a:p>
                      <a:pPr algn="ctr"/>
                      <a:r>
                        <a:rPr sz="1200" b="0">
                          <a:solidFill>
                            <a:srgbClr val="F0F4FF"/>
                          </a:solidFill>
                          <a:latin typeface="Malgun Gothic"/>
                        </a:rPr>
                        <a:t>32</a:t>
                      </a:r>
                    </a:p>
                  </a:txBody>
                  <a:tcPr anchor="ctr">
                    <a:solidFill>
                      <a:srgbClr val="2A3C64"/>
                    </a:solidFill>
                  </a:tcPr>
                </a:tc>
                <a:tc>
                  <a:txBody>
                    <a:bodyPr wrap="none"/>
                    <a:lstStyle/>
                    <a:p>
                      <a:pPr algn="ctr"/>
                      <a:r>
                        <a:rPr sz="1200" b="0">
                          <a:solidFill>
                            <a:srgbClr val="F0F4FF"/>
                          </a:solidFill>
                          <a:latin typeface="Malgun Gothic"/>
                        </a:rPr>
                        <a:t>$84.34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2026-06-10</a:t>
                      </a:r>
                    </a:p>
                  </a:txBody>
                  <a:tcPr anchor="ctr">
                    <a:solidFill>
                      <a:srgbClr val="2A3C64"/>
                    </a:solidFill>
                  </a:tcPr>
                </a:tc>
                <a:tc>
                  <a:txBody>
                    <a:bodyPr wrap="none"/>
                    <a:lstStyle/>
                    <a:p>
                      <a:pPr algn="ctr"/>
                      <a:r>
                        <a:rPr sz="1200" b="0">
                          <a:solidFill>
                            <a:srgbClr val="F0F4FF"/>
                          </a:solidFill>
                          <a:latin typeface="Malgun Gothic"/>
                        </a:rPr>
                        <a:t>$69.27</a:t>
                      </a:r>
                    </a:p>
                  </a:txBody>
                  <a:tcPr anchor="ctr">
                    <a:solidFill>
                      <a:srgbClr val="2A3C64"/>
                    </a:solidFill>
                  </a:tcPr>
                </a:tc>
                <a:tc>
                  <a:txBody>
                    <a:bodyPr wrap="none"/>
                    <a:lstStyle/>
                    <a:p>
                      <a:pPr algn="ctr"/>
                      <a:r>
                        <a:rPr sz="1200" b="0">
                          <a:solidFill>
                            <a:srgbClr val="F0F4FF"/>
                          </a:solidFill>
                          <a:latin typeface="Malgun Gothic"/>
                        </a:rPr>
                        <a:t>-6.04%</a:t>
                      </a:r>
                    </a:p>
                  </a:txBody>
                  <a:tcPr anchor="ctr">
                    <a:solidFill>
                      <a:srgbClr val="2A3C64"/>
                    </a:solidFill>
                  </a:tcPr>
                </a:tc>
                <a:tc>
                  <a:txBody>
                    <a:bodyPr wrap="none"/>
                    <a:lstStyle/>
                    <a:p>
                      <a:pPr algn="ctr"/>
                      <a:r>
                        <a:rPr sz="1200" b="0">
                          <a:solidFill>
                            <a:srgbClr val="F0F4FF"/>
                          </a:solidFill>
                          <a:latin typeface="Malgun Gothic"/>
                        </a:rPr>
                        <a:t>10.31</a:t>
                      </a:r>
                    </a:p>
                  </a:txBody>
                  <a:tcPr anchor="ctr">
                    <a:solidFill>
                      <a:srgbClr val="2A3C64"/>
                    </a:solidFill>
                  </a:tcPr>
                </a:tc>
                <a:tc>
                  <a:txBody>
                    <a:bodyPr wrap="none"/>
                    <a:lstStyle/>
                    <a:p>
                      <a:pPr algn="ctr"/>
                      <a:r>
                        <a:rPr sz="1200" b="0">
                          <a:solidFill>
                            <a:srgbClr val="F0F4FF"/>
                          </a:solidFill>
                          <a:latin typeface="Malgun Gothic"/>
                        </a:rPr>
                        <a:t>27</a:t>
                      </a:r>
                    </a:p>
                  </a:txBody>
                  <a:tcPr anchor="ctr">
                    <a:solidFill>
                      <a:srgbClr val="2A3C64"/>
                    </a:solidFill>
                  </a:tcPr>
                </a:tc>
                <a:tc>
                  <a:txBody>
                    <a:bodyPr wrap="none"/>
                    <a:lstStyle/>
                    <a:p>
                      <a:pPr algn="ctr"/>
                      <a:r>
                        <a:rPr sz="1200" b="0">
                          <a:solidFill>
                            <a:srgbClr val="F0F4FF"/>
                          </a:solidFill>
                          <a:latin typeface="Malgun Gothic"/>
                        </a:rPr>
                        <a:t>$81.58</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2026-06-11</a:t>
                      </a:r>
                    </a:p>
                  </a:txBody>
                  <a:tcPr anchor="ctr">
                    <a:solidFill>
                      <a:srgbClr val="2A3C64"/>
                    </a:solidFill>
                  </a:tcPr>
                </a:tc>
                <a:tc>
                  <a:txBody>
                    <a:bodyPr wrap="none"/>
                    <a:lstStyle/>
                    <a:p>
                      <a:pPr algn="ctr"/>
                      <a:r>
                        <a:rPr sz="1200" b="0">
                          <a:solidFill>
                            <a:srgbClr val="F0F4FF"/>
                          </a:solidFill>
                          <a:latin typeface="Malgun Gothic"/>
                        </a:rPr>
                        <a:t>$76.01</a:t>
                      </a:r>
                    </a:p>
                  </a:txBody>
                  <a:tcPr anchor="ctr">
                    <a:solidFill>
                      <a:srgbClr val="2A3C64"/>
                    </a:solidFill>
                  </a:tcPr>
                </a:tc>
                <a:tc>
                  <a:txBody>
                    <a:bodyPr wrap="none"/>
                    <a:lstStyle/>
                    <a:p>
                      <a:pPr algn="ctr"/>
                      <a:r>
                        <a:rPr sz="1200" b="0">
                          <a:solidFill>
                            <a:srgbClr val="F0F4FF"/>
                          </a:solidFill>
                          <a:latin typeface="Malgun Gothic"/>
                        </a:rPr>
                        <a:t>+9.73%</a:t>
                      </a:r>
                    </a:p>
                  </a:txBody>
                  <a:tcPr anchor="ctr">
                    <a:solidFill>
                      <a:srgbClr val="2A3C64"/>
                    </a:solidFill>
                  </a:tcPr>
                </a:tc>
                <a:tc>
                  <a:txBody>
                    <a:bodyPr wrap="none"/>
                    <a:lstStyle/>
                    <a:p>
                      <a:pPr algn="ctr"/>
                      <a:r>
                        <a:rPr sz="1200" b="0">
                          <a:solidFill>
                            <a:srgbClr val="F0F4FF"/>
                          </a:solidFill>
                          <a:latin typeface="Malgun Gothic"/>
                        </a:rPr>
                        <a:t>66.09</a:t>
                      </a:r>
                    </a:p>
                  </a:txBody>
                  <a:tcPr anchor="ctr">
                    <a:solidFill>
                      <a:srgbClr val="2A3C64"/>
                    </a:solidFill>
                  </a:tcPr>
                </a:tc>
                <a:tc>
                  <a:txBody>
                    <a:bodyPr wrap="none"/>
                    <a:lstStyle/>
                    <a:p>
                      <a:pPr algn="ctr"/>
                      <a:r>
                        <a:rPr sz="1200" b="0">
                          <a:solidFill>
                            <a:srgbClr val="F0F4FF"/>
                          </a:solidFill>
                          <a:latin typeface="Malgun Gothic"/>
                        </a:rPr>
                        <a:t>32</a:t>
                      </a:r>
                    </a:p>
                  </a:txBody>
                  <a:tcPr anchor="ctr">
                    <a:solidFill>
                      <a:srgbClr val="2A3C64"/>
                    </a:solidFill>
                  </a:tcPr>
                </a:tc>
                <a:tc>
                  <a:txBody>
                    <a:bodyPr wrap="none"/>
                    <a:lstStyle/>
                    <a:p>
                      <a:pPr algn="ctr"/>
                      <a:r>
                        <a:rPr sz="1200" b="0">
                          <a:solidFill>
                            <a:srgbClr val="F0F4FF"/>
                          </a:solidFill>
                          <a:latin typeface="Malgun Gothic"/>
                        </a:rPr>
                        <a:t>$79.87</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2026-06-12</a:t>
                      </a:r>
                    </a:p>
                  </a:txBody>
                  <a:tcPr anchor="ctr">
                    <a:solidFill>
                      <a:srgbClr val="2A3C64"/>
                    </a:solidFill>
                  </a:tcPr>
                </a:tc>
                <a:tc>
                  <a:txBody>
                    <a:bodyPr wrap="none"/>
                    <a:lstStyle/>
                    <a:p>
                      <a:pPr algn="ctr"/>
                      <a:r>
                        <a:rPr sz="1200" b="0">
                          <a:solidFill>
                            <a:srgbClr val="F0F4FF"/>
                          </a:solidFill>
                          <a:latin typeface="Malgun Gothic"/>
                        </a:rPr>
                        <a:t>$77.52</a:t>
                      </a:r>
                    </a:p>
                  </a:txBody>
                  <a:tcPr anchor="ctr">
                    <a:solidFill>
                      <a:srgbClr val="2A3C64"/>
                    </a:solidFill>
                  </a:tcPr>
                </a:tc>
                <a:tc>
                  <a:txBody>
                    <a:bodyPr wrap="none"/>
                    <a:lstStyle/>
                    <a:p>
                      <a:pPr algn="ctr"/>
                      <a:r>
                        <a:rPr sz="1200" b="0">
                          <a:solidFill>
                            <a:srgbClr val="F0F4FF"/>
                          </a:solidFill>
                          <a:latin typeface="Malgun Gothic"/>
                        </a:rPr>
                        <a:t>+1.99%</a:t>
                      </a:r>
                    </a:p>
                  </a:txBody>
                  <a:tcPr anchor="ctr">
                    <a:solidFill>
                      <a:srgbClr val="2A3C64"/>
                    </a:solidFill>
                  </a:tcPr>
                </a:tc>
                <a:tc>
                  <a:txBody>
                    <a:bodyPr wrap="none"/>
                    <a:lstStyle/>
                    <a:p>
                      <a:pPr algn="ctr"/>
                      <a:r>
                        <a:rPr sz="1200" b="0">
                          <a:solidFill>
                            <a:srgbClr val="F0F4FF"/>
                          </a:solidFill>
                          <a:latin typeface="Malgun Gothic"/>
                        </a:rPr>
                        <a:t>73.48</a:t>
                      </a:r>
                    </a:p>
                  </a:txBody>
                  <a:tcPr anchor="ctr">
                    <a:solidFill>
                      <a:srgbClr val="2A3C64"/>
                    </a:solidFill>
                  </a:tcPr>
                </a:tc>
                <a:tc>
                  <a:txBody>
                    <a:bodyPr wrap="none"/>
                    <a:lstStyle/>
                    <a:p>
                      <a:pPr algn="ctr"/>
                      <a:r>
                        <a:rPr sz="1200" b="0">
                          <a:solidFill>
                            <a:srgbClr val="F0F4FF"/>
                          </a:solidFill>
                          <a:latin typeface="Malgun Gothic"/>
                        </a:rPr>
                        <a:t>36</a:t>
                      </a:r>
                    </a:p>
                  </a:txBody>
                  <a:tcPr anchor="ctr">
                    <a:solidFill>
                      <a:srgbClr val="2A3C64"/>
                    </a:solidFill>
                  </a:tcPr>
                </a:tc>
                <a:tc>
                  <a:txBody>
                    <a:bodyPr wrap="none"/>
                    <a:lstStyle/>
                    <a:p>
                      <a:pPr algn="ctr"/>
                      <a:r>
                        <a:rPr sz="1200" b="0">
                          <a:solidFill>
                            <a:srgbClr val="F0F4FF"/>
                          </a:solidFill>
                          <a:latin typeface="Malgun Gothic"/>
                        </a:rPr>
                        <a:t>$77.94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FF4D6D"/>
                          </a:solidFill>
                          <a:latin typeface="Malgun Gothic"/>
                        </a:rPr>
                        <a:t>2026-06-15</a:t>
                      </a:r>
                    </a:p>
                  </a:txBody>
                  <a:tcPr anchor="ctr">
                    <a:solidFill>
                      <a:srgbClr val="38507C"/>
                    </a:solidFill>
                  </a:tcPr>
                </a:tc>
                <a:tc>
                  <a:txBody>
                    <a:bodyPr wrap="none"/>
                    <a:lstStyle/>
                    <a:p>
                      <a:pPr algn="ctr"/>
                      <a:r>
                        <a:rPr sz="1200" b="1">
                          <a:solidFill>
                            <a:srgbClr val="FF4D6D"/>
                          </a:solidFill>
                          <a:latin typeface="Malgun Gothic"/>
                        </a:rPr>
                        <a:t>$84.59</a:t>
                      </a:r>
                    </a:p>
                  </a:txBody>
                  <a:tcPr anchor="ctr">
                    <a:solidFill>
                      <a:srgbClr val="38507C"/>
                    </a:solidFill>
                  </a:tcPr>
                </a:tc>
                <a:tc>
                  <a:txBody>
                    <a:bodyPr wrap="none"/>
                    <a:lstStyle/>
                    <a:p>
                      <a:pPr algn="ctr"/>
                      <a:r>
                        <a:rPr sz="1200" b="1">
                          <a:solidFill>
                            <a:srgbClr val="FF4D6D"/>
                          </a:solidFill>
                          <a:latin typeface="Malgun Gothic"/>
                        </a:rPr>
                        <a:t>+9.12%</a:t>
                      </a:r>
                    </a:p>
                  </a:txBody>
                  <a:tcPr anchor="ctr">
                    <a:solidFill>
                      <a:srgbClr val="38507C"/>
                    </a:solidFill>
                  </a:tcPr>
                </a:tc>
                <a:tc>
                  <a:txBody>
                    <a:bodyPr wrap="none"/>
                    <a:lstStyle/>
                    <a:p>
                      <a:pPr algn="ctr"/>
                      <a:r>
                        <a:rPr sz="1200" b="1">
                          <a:solidFill>
                            <a:srgbClr val="FF4D6D"/>
                          </a:solidFill>
                          <a:latin typeface="Malgun Gothic"/>
                        </a:rPr>
                        <a:t>91.28</a:t>
                      </a:r>
                    </a:p>
                  </a:txBody>
                  <a:tcPr anchor="ctr">
                    <a:solidFill>
                      <a:srgbClr val="38507C"/>
                    </a:solidFill>
                  </a:tcPr>
                </a:tc>
                <a:tc>
                  <a:txBody>
                    <a:bodyPr wrap="none"/>
                    <a:lstStyle/>
                    <a:p>
                      <a:pPr algn="ctr"/>
                      <a:r>
                        <a:rPr sz="1200" b="1">
                          <a:solidFill>
                            <a:srgbClr val="FF4D6D"/>
                          </a:solidFill>
                          <a:latin typeface="Malgun Gothic"/>
                        </a:rPr>
                        <a:t>42</a:t>
                      </a:r>
                    </a:p>
                  </a:txBody>
                  <a:tcPr anchor="ctr">
                    <a:solidFill>
                      <a:srgbClr val="38507C"/>
                    </a:solidFill>
                  </a:tcPr>
                </a:tc>
                <a:tc>
                  <a:txBody>
                    <a:bodyPr wrap="none"/>
                    <a:lstStyle/>
                    <a:p>
                      <a:pPr algn="ctr"/>
                      <a:r>
                        <a:rPr sz="1200" b="1">
                          <a:solidFill>
                            <a:srgbClr val="FF4D6D"/>
                          </a:solidFill>
                          <a:latin typeface="Malgun Gothic"/>
                        </a:rPr>
                        <a:t>$77.73</a:t>
                      </a:r>
                    </a:p>
                  </a:txBody>
                  <a:tcPr anchor="ctr">
                    <a:solidFill>
                      <a:srgbClr val="38507C"/>
                    </a:solidFill>
                  </a:tcPr>
                </a:tc>
                <a:tc>
                  <a:txBody>
                    <a:bodyPr wrap="none"/>
                    <a:lstStyle/>
                    <a:p>
                      <a:pPr algn="ctr"/>
                      <a:r>
                        <a:rPr sz="1200" b="1">
                          <a:solidFill>
                            <a:srgbClr val="FF4D6D"/>
                          </a:solidFill>
                          <a:latin typeface="Malgun Gothic"/>
                        </a:rPr>
                        <a:t>▼ SELL</a:t>
                      </a:r>
                    </a:p>
                  </a:txBody>
                  <a:tcPr anchor="ctr">
                    <a:solidFill>
                      <a:srgbClr val="38507C"/>
                    </a:solidFill>
                  </a:tcPr>
                </a:tc>
              </a:tr>
              <a:tr h="457200">
                <a:tc>
                  <a:txBody>
                    <a:bodyPr wrap="none"/>
                    <a:lstStyle/>
                    <a:p>
                      <a:pPr algn="ctr"/>
                      <a:r>
                        <a:rPr sz="1200" b="0">
                          <a:solidFill>
                            <a:srgbClr val="F0F4FF"/>
                          </a:solidFill>
                          <a:latin typeface="Malgun Gothic"/>
                        </a:rPr>
                        <a:t>2026-06-16</a:t>
                      </a:r>
                    </a:p>
                  </a:txBody>
                  <a:tcPr anchor="ctr">
                    <a:solidFill>
                      <a:srgbClr val="2A3C64"/>
                    </a:solidFill>
                  </a:tcPr>
                </a:tc>
                <a:tc>
                  <a:txBody>
                    <a:bodyPr wrap="none"/>
                    <a:lstStyle/>
                    <a:p>
                      <a:pPr algn="ctr"/>
                      <a:r>
                        <a:rPr sz="1200" b="0">
                          <a:solidFill>
                            <a:srgbClr val="F0F4FF"/>
                          </a:solidFill>
                          <a:latin typeface="Malgun Gothic"/>
                        </a:rPr>
                        <a:t>$79.93</a:t>
                      </a:r>
                    </a:p>
                  </a:txBody>
                  <a:tcPr anchor="ctr">
                    <a:solidFill>
                      <a:srgbClr val="2A3C64"/>
                    </a:solidFill>
                  </a:tcPr>
                </a:tc>
                <a:tc>
                  <a:txBody>
                    <a:bodyPr wrap="none"/>
                    <a:lstStyle/>
                    <a:p>
                      <a:pPr algn="ctr"/>
                      <a:r>
                        <a:rPr sz="1200" b="0">
                          <a:solidFill>
                            <a:srgbClr val="F0F4FF"/>
                          </a:solidFill>
                          <a:latin typeface="Malgun Gothic"/>
                        </a:rPr>
                        <a:t>-5.51%</a:t>
                      </a:r>
                    </a:p>
                  </a:txBody>
                  <a:tcPr anchor="ctr">
                    <a:solidFill>
                      <a:srgbClr val="2A3C64"/>
                    </a:solidFill>
                  </a:tcPr>
                </a:tc>
                <a:tc>
                  <a:txBody>
                    <a:bodyPr wrap="none"/>
                    <a:lstStyle/>
                    <a:p>
                      <a:pPr algn="ctr"/>
                      <a:r>
                        <a:rPr sz="1200" b="0">
                          <a:solidFill>
                            <a:srgbClr val="F0F4FF"/>
                          </a:solidFill>
                          <a:latin typeface="Malgun Gothic"/>
                        </a:rPr>
                        <a:t>48.43</a:t>
                      </a:r>
                    </a:p>
                  </a:txBody>
                  <a:tcPr anchor="ctr">
                    <a:solidFill>
                      <a:srgbClr val="2A3C64"/>
                    </a:solidFill>
                  </a:tcPr>
                </a:tc>
                <a:tc>
                  <a:txBody>
                    <a:bodyPr wrap="none"/>
                    <a:lstStyle/>
                    <a:p>
                      <a:pPr algn="ctr"/>
                      <a:r>
                        <a:rPr sz="1200" b="0">
                          <a:solidFill>
                            <a:srgbClr val="F0F4FF"/>
                          </a:solidFill>
                          <a:latin typeface="Malgun Gothic"/>
                        </a:rPr>
                        <a:t>39</a:t>
                      </a:r>
                    </a:p>
                  </a:txBody>
                  <a:tcPr anchor="ctr">
                    <a:solidFill>
                      <a:srgbClr val="2A3C64"/>
                    </a:solidFill>
                  </a:tcPr>
                </a:tc>
                <a:tc>
                  <a:txBody>
                    <a:bodyPr wrap="none"/>
                    <a:lstStyle/>
                    <a:p>
                      <a:pPr algn="ctr"/>
                      <a:r>
                        <a:rPr sz="1200" b="0">
                          <a:solidFill>
                            <a:srgbClr val="F0F4FF"/>
                          </a:solidFill>
                          <a:latin typeface="Malgun Gothic"/>
                        </a:rPr>
                        <a:t>$83.45</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FF4D6D"/>
                </a:solidFill>
                <a:latin typeface="Malgun Gothic"/>
              </a:rPr>
              <a:t>✅ 2026-06-15  매도 체결  |  종가 $84.59  |  RSI(2) 91.28  |  F&amp;G 42  |  수익률 +15.80%</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square">
            <a:spAutoFit/>
          </a:bodyPr>
          <a:lstStyle/>
          <a:p>
            <a:pPr algn="l"/>
            <a:r>
              <a:rPr sz="2400" b="1" i="0">
                <a:solidFill>
                  <a:srgbClr val="F0F4FF"/>
                </a:solidFill>
                <a:latin typeface="Malgun Gothic"/>
              </a:rPr>
              <a:t>TQQQ  사이클 요약  —  2026년 사이클 전체 (5건)</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896112"/>
          <a:ext cx="9601200" cy="2688336"/>
        </p:xfrm>
        <a:graphic>
          <a:graphicData uri="http://schemas.openxmlformats.org/drawingml/2006/table">
            <a:tbl>
              <a:tblPr firstRow="1" bandRow="1">
                <a:tableStyleId>{5C22544A-7EE6-4342-B048-85BDC9FD1C3A}</a:tableStyleId>
              </a:tblPr>
              <a:tblGrid>
                <a:gridCol w="731520"/>
                <a:gridCol w="1143000"/>
                <a:gridCol w="1005840"/>
                <a:gridCol w="1417320"/>
                <a:gridCol w="1143000"/>
                <a:gridCol w="1005840"/>
                <a:gridCol w="777240"/>
                <a:gridCol w="960120"/>
                <a:gridCol w="1417320"/>
              </a:tblGrid>
              <a:tr h="448056">
                <a:tc>
                  <a:txBody>
                    <a:bodyPr wrap="none"/>
                    <a:lstStyle/>
                    <a:p>
                      <a:pPr algn="ctr"/>
                      <a:r>
                        <a:rPr sz="1000" b="1">
                          <a:solidFill>
                            <a:srgbClr val="00E5FF"/>
                          </a:solidFill>
                          <a:latin typeface="Malgun Gothic"/>
                        </a:rPr>
                        <a:t>사이클</a:t>
                      </a:r>
                    </a:p>
                  </a:txBody>
                  <a:tcPr anchor="ctr">
                    <a:solidFill>
                      <a:srgbClr val="38507C"/>
                    </a:solidFill>
                  </a:tcPr>
                </a:tc>
                <a:tc>
                  <a:txBody>
                    <a:bodyPr wrap="none"/>
                    <a:lstStyle/>
                    <a:p>
                      <a:pPr algn="ctr"/>
                      <a:r>
                        <a:rPr sz="1000" b="1">
                          <a:solidFill>
                            <a:srgbClr val="00E5FF"/>
                          </a:solidFill>
                          <a:latin typeface="Malgun Gothic"/>
                        </a:rPr>
                        <a:t>매수일</a:t>
                      </a:r>
                    </a:p>
                  </a:txBody>
                  <a:tcPr anchor="ctr">
                    <a:solidFill>
                      <a:srgbClr val="38507C"/>
                    </a:solidFill>
                  </a:tcPr>
                </a:tc>
                <a:tc>
                  <a:txBody>
                    <a:bodyPr wrap="none"/>
                    <a:lstStyle/>
                    <a:p>
                      <a:pPr algn="ctr"/>
                      <a:r>
                        <a:rPr sz="1000" b="1">
                          <a:solidFill>
                            <a:srgbClr val="00E5FF"/>
                          </a:solidFill>
                          <a:latin typeface="Malgun Gothic"/>
                        </a:rPr>
                        <a:t>매수가($)</a:t>
                      </a:r>
                    </a:p>
                  </a:txBody>
                  <a:tcPr anchor="ctr">
                    <a:solidFill>
                      <a:srgbClr val="38507C"/>
                    </a:solidFill>
                  </a:tcPr>
                </a:tc>
                <a:tc>
                  <a:txBody>
                    <a:bodyPr wrap="none"/>
                    <a:lstStyle/>
                    <a:p>
                      <a:pPr algn="ctr"/>
                      <a:r>
                        <a:rPr sz="1000" b="1">
                          <a:solidFill>
                            <a:srgbClr val="00E5FF"/>
                          </a:solidFill>
                          <a:latin typeface="Malgun Gothic"/>
                        </a:rPr>
                        <a:t>RSI/F&amp;G (매수)</a:t>
                      </a:r>
                    </a:p>
                  </a:txBody>
                  <a:tcPr anchor="ctr">
                    <a:solidFill>
                      <a:srgbClr val="38507C"/>
                    </a:solidFill>
                  </a:tcPr>
                </a:tc>
                <a:tc>
                  <a:txBody>
                    <a:bodyPr wrap="none"/>
                    <a:lstStyle/>
                    <a:p>
                      <a:pPr algn="ctr"/>
                      <a:r>
                        <a:rPr sz="1000" b="1">
                          <a:solidFill>
                            <a:srgbClr val="00E5FF"/>
                          </a:solidFill>
                          <a:latin typeface="Malgun Gothic"/>
                        </a:rPr>
                        <a:t>매도일</a:t>
                      </a:r>
                    </a:p>
                  </a:txBody>
                  <a:tcPr anchor="ctr">
                    <a:solidFill>
                      <a:srgbClr val="38507C"/>
                    </a:solidFill>
                  </a:tcPr>
                </a:tc>
                <a:tc>
                  <a:txBody>
                    <a:bodyPr wrap="none"/>
                    <a:lstStyle/>
                    <a:p>
                      <a:pPr algn="ctr"/>
                      <a:r>
                        <a:rPr sz="1000" b="1">
                          <a:solidFill>
                            <a:srgbClr val="00E5FF"/>
                          </a:solidFill>
                          <a:latin typeface="Malgun Gothic"/>
                        </a:rPr>
                        <a:t>매도가($)</a:t>
                      </a:r>
                    </a:p>
                  </a:txBody>
                  <a:tcPr anchor="ctr">
                    <a:solidFill>
                      <a:srgbClr val="38507C"/>
                    </a:solidFill>
                  </a:tcPr>
                </a:tc>
                <a:tc>
                  <a:txBody>
                    <a:bodyPr wrap="none"/>
                    <a:lstStyle/>
                    <a:p>
                      <a:pPr algn="ctr"/>
                      <a:r>
                        <a:rPr sz="1000" b="1">
                          <a:solidFill>
                            <a:srgbClr val="00E5FF"/>
                          </a:solidFill>
                          <a:latin typeface="Malgun Gothic"/>
                        </a:rPr>
                        <a:t>보유(일)</a:t>
                      </a:r>
                    </a:p>
                  </a:txBody>
                  <a:tcPr anchor="ctr">
                    <a:solidFill>
                      <a:srgbClr val="38507C"/>
                    </a:solidFill>
                  </a:tcPr>
                </a:tc>
                <a:tc>
                  <a:txBody>
                    <a:bodyPr wrap="none"/>
                    <a:lstStyle/>
                    <a:p>
                      <a:pPr algn="ctr"/>
                      <a:r>
                        <a:rPr sz="1000" b="1">
                          <a:solidFill>
                            <a:srgbClr val="00E5FF"/>
                          </a:solidFill>
                          <a:latin typeface="Malgun Gothic"/>
                        </a:rPr>
                        <a:t>수익률</a:t>
                      </a:r>
                    </a:p>
                  </a:txBody>
                  <a:tcPr anchor="ctr">
                    <a:solidFill>
                      <a:srgbClr val="38507C"/>
                    </a:solidFill>
                  </a:tcPr>
                </a:tc>
                <a:tc>
                  <a:txBody>
                    <a:bodyPr wrap="none"/>
                    <a:lstStyle/>
                    <a:p>
                      <a:pPr algn="ctr"/>
                      <a:r>
                        <a:rPr sz="1000" b="1">
                          <a:solidFill>
                            <a:srgbClr val="00E5FF"/>
                          </a:solidFill>
                          <a:latin typeface="Malgun Gothic"/>
                        </a:rPr>
                        <a:t>정산금액($)</a:t>
                      </a:r>
                    </a:p>
                  </a:txBody>
                  <a:tcPr anchor="ctr">
                    <a:solidFill>
                      <a:srgbClr val="38507C"/>
                    </a:solidFill>
                  </a:tcPr>
                </a:tc>
              </a:tr>
              <a:tr h="448056">
                <a:tc>
                  <a:txBody>
                    <a:bodyPr wrap="none"/>
                    <a:lstStyle/>
                    <a:p>
                      <a:pPr algn="ctr"/>
                      <a:r>
                        <a:rPr sz="1000" b="0">
                          <a:solidFill>
                            <a:srgbClr val="F0F4FF"/>
                          </a:solidFill>
                          <a:latin typeface="Malgun Gothic"/>
                        </a:rPr>
                        <a:t>#74</a:t>
                      </a:r>
                    </a:p>
                  </a:txBody>
                  <a:tcPr anchor="ctr">
                    <a:solidFill>
                      <a:srgbClr val="2A3C64"/>
                    </a:solidFill>
                  </a:tcPr>
                </a:tc>
                <a:tc>
                  <a:txBody>
                    <a:bodyPr wrap="none"/>
                    <a:lstStyle/>
                    <a:p>
                      <a:pPr algn="ctr"/>
                      <a:r>
                        <a:rPr sz="1000" b="0">
                          <a:solidFill>
                            <a:srgbClr val="F0F4FF"/>
                          </a:solidFill>
                          <a:latin typeface="Malgun Gothic"/>
                        </a:rPr>
                        <a:t>2026-01-14</a:t>
                      </a:r>
                    </a:p>
                  </a:txBody>
                  <a:tcPr anchor="ctr">
                    <a:solidFill>
                      <a:srgbClr val="2A3C64"/>
                    </a:solidFill>
                  </a:tcPr>
                </a:tc>
                <a:tc>
                  <a:txBody>
                    <a:bodyPr wrap="none"/>
                    <a:lstStyle/>
                    <a:p>
                      <a:pPr algn="ctr"/>
                      <a:r>
                        <a:rPr sz="1000" b="0">
                          <a:solidFill>
                            <a:srgbClr val="F0F4FF"/>
                          </a:solidFill>
                          <a:latin typeface="Malgun Gothic"/>
                        </a:rPr>
                        <a:t>$53.74</a:t>
                      </a:r>
                    </a:p>
                  </a:txBody>
                  <a:tcPr anchor="ctr">
                    <a:solidFill>
                      <a:srgbClr val="2A3C64"/>
                    </a:solidFill>
                  </a:tcPr>
                </a:tc>
                <a:tc>
                  <a:txBody>
                    <a:bodyPr wrap="none"/>
                    <a:lstStyle/>
                    <a:p>
                      <a:pPr algn="ctr"/>
                      <a:r>
                        <a:rPr sz="1000" b="0">
                          <a:solidFill>
                            <a:srgbClr val="F0F4FF"/>
                          </a:solidFill>
                          <a:latin typeface="Malgun Gothic"/>
                        </a:rPr>
                        <a:t>RSI 11.83  /  F&amp;G 59</a:t>
                      </a:r>
                    </a:p>
                  </a:txBody>
                  <a:tcPr anchor="ctr">
                    <a:solidFill>
                      <a:srgbClr val="2A3C64"/>
                    </a:solidFill>
                  </a:tcPr>
                </a:tc>
                <a:tc>
                  <a:txBody>
                    <a:bodyPr wrap="none"/>
                    <a:lstStyle/>
                    <a:p>
                      <a:pPr algn="ctr"/>
                      <a:r>
                        <a:rPr sz="1000" b="0">
                          <a:solidFill>
                            <a:srgbClr val="F0F4FF"/>
                          </a:solidFill>
                          <a:latin typeface="Malgun Gothic"/>
                        </a:rPr>
                        <a:t>2026-01-23</a:t>
                      </a:r>
                    </a:p>
                  </a:txBody>
                  <a:tcPr anchor="ctr">
                    <a:solidFill>
                      <a:srgbClr val="2A3C64"/>
                    </a:solidFill>
                  </a:tcPr>
                </a:tc>
                <a:tc>
                  <a:txBody>
                    <a:bodyPr wrap="none"/>
                    <a:lstStyle/>
                    <a:p>
                      <a:pPr algn="ctr"/>
                      <a:r>
                        <a:rPr sz="1000" b="0">
                          <a:solidFill>
                            <a:srgbClr val="F0F4FF"/>
                          </a:solidFill>
                          <a:latin typeface="Malgun Gothic"/>
                        </a:rPr>
                        <a:t>$54.29</a:t>
                      </a:r>
                    </a:p>
                  </a:txBody>
                  <a:tcPr anchor="ctr">
                    <a:solidFill>
                      <a:srgbClr val="2A3C64"/>
                    </a:solidFill>
                  </a:tcPr>
                </a:tc>
                <a:tc>
                  <a:txBody>
                    <a:bodyPr wrap="none"/>
                    <a:lstStyle/>
                    <a:p>
                      <a:pPr algn="ctr"/>
                      <a:r>
                        <a:rPr sz="1000" b="0">
                          <a:solidFill>
                            <a:srgbClr val="F0F4FF"/>
                          </a:solidFill>
                          <a:latin typeface="Malgun Gothic"/>
                        </a:rPr>
                        <a:t>10</a:t>
                      </a:r>
                    </a:p>
                  </a:txBody>
                  <a:tcPr anchor="ctr">
                    <a:solidFill>
                      <a:srgbClr val="2A3C64"/>
                    </a:solidFill>
                  </a:tcPr>
                </a:tc>
                <a:tc>
                  <a:txBody>
                    <a:bodyPr wrap="none"/>
                    <a:lstStyle/>
                    <a:p>
                      <a:pPr algn="ctr"/>
                      <a:r>
                        <a:rPr sz="1000" b="1">
                          <a:solidFill>
                            <a:srgbClr val="00D48A"/>
                          </a:solidFill>
                          <a:latin typeface="Malgun Gothic"/>
                        </a:rPr>
                        <a:t>+1.02%</a:t>
                      </a:r>
                    </a:p>
                  </a:txBody>
                  <a:tcPr anchor="ctr">
                    <a:solidFill>
                      <a:srgbClr val="2A3C64"/>
                    </a:solidFill>
                  </a:tcPr>
                </a:tc>
                <a:tc>
                  <a:txBody>
                    <a:bodyPr wrap="none"/>
                    <a:lstStyle/>
                    <a:p>
                      <a:pPr algn="ctr"/>
                      <a:r>
                        <a:rPr sz="1000" b="0">
                          <a:solidFill>
                            <a:srgbClr val="F0F4FF"/>
                          </a:solidFill>
                          <a:latin typeface="Malgun Gothic"/>
                        </a:rPr>
                        <a:t>$101,020</a:t>
                      </a:r>
                    </a:p>
                  </a:txBody>
                  <a:tcPr anchor="ctr">
                    <a:solidFill>
                      <a:srgbClr val="2A3C64"/>
                    </a:solidFill>
                  </a:tcPr>
                </a:tc>
              </a:tr>
              <a:tr h="448056">
                <a:tc>
                  <a:txBody>
                    <a:bodyPr wrap="none"/>
                    <a:lstStyle/>
                    <a:p>
                      <a:pPr algn="ctr"/>
                      <a:r>
                        <a:rPr sz="1000" b="0">
                          <a:solidFill>
                            <a:srgbClr val="F0F4FF"/>
                          </a:solidFill>
                          <a:latin typeface="Malgun Gothic"/>
                        </a:rPr>
                        <a:t>#75</a:t>
                      </a:r>
                    </a:p>
                  </a:txBody>
                  <a:tcPr anchor="ctr">
                    <a:solidFill>
                      <a:srgbClr val="2A3C64"/>
                    </a:solidFill>
                  </a:tcPr>
                </a:tc>
                <a:tc>
                  <a:txBody>
                    <a:bodyPr wrap="none"/>
                    <a:lstStyle/>
                    <a:p>
                      <a:pPr algn="ctr"/>
                      <a:r>
                        <a:rPr sz="1000" b="0">
                          <a:solidFill>
                            <a:srgbClr val="F0F4FF"/>
                          </a:solidFill>
                          <a:latin typeface="Malgun Gothic"/>
                        </a:rPr>
                        <a:t>2026-01-30</a:t>
                      </a:r>
                    </a:p>
                  </a:txBody>
                  <a:tcPr anchor="ctr">
                    <a:solidFill>
                      <a:srgbClr val="2A3C64"/>
                    </a:solidFill>
                  </a:tcPr>
                </a:tc>
                <a:tc>
                  <a:txBody>
                    <a:bodyPr wrap="none"/>
                    <a:lstStyle/>
                    <a:p>
                      <a:pPr algn="ctr"/>
                      <a:r>
                        <a:rPr sz="1000" b="0">
                          <a:solidFill>
                            <a:srgbClr val="F0F4FF"/>
                          </a:solidFill>
                          <a:latin typeface="Malgun Gothic"/>
                        </a:rPr>
                        <a:t>$53.91</a:t>
                      </a:r>
                    </a:p>
                  </a:txBody>
                  <a:tcPr anchor="ctr">
                    <a:solidFill>
                      <a:srgbClr val="2A3C64"/>
                    </a:solidFill>
                  </a:tcPr>
                </a:tc>
                <a:tc>
                  <a:txBody>
                    <a:bodyPr wrap="none"/>
                    <a:lstStyle/>
                    <a:p>
                      <a:pPr algn="ctr"/>
                      <a:r>
                        <a:rPr sz="1000" b="0">
                          <a:solidFill>
                            <a:srgbClr val="F0F4FF"/>
                          </a:solidFill>
                          <a:latin typeface="Malgun Gothic"/>
                        </a:rPr>
                        <a:t>RSI 13.66  /  F&amp;G 59</a:t>
                      </a:r>
                    </a:p>
                  </a:txBody>
                  <a:tcPr anchor="ctr">
                    <a:solidFill>
                      <a:srgbClr val="2A3C64"/>
                    </a:solidFill>
                  </a:tcPr>
                </a:tc>
                <a:tc>
                  <a:txBody>
                    <a:bodyPr wrap="none"/>
                    <a:lstStyle/>
                    <a:p>
                      <a:pPr algn="ctr"/>
                      <a:r>
                        <a:rPr sz="1000" b="0">
                          <a:solidFill>
                            <a:srgbClr val="F0F4FF"/>
                          </a:solidFill>
                          <a:latin typeface="Malgun Gothic"/>
                        </a:rPr>
                        <a:t>2026-02-20</a:t>
                      </a:r>
                    </a:p>
                  </a:txBody>
                  <a:tcPr anchor="ctr">
                    <a:solidFill>
                      <a:srgbClr val="2A3C64"/>
                    </a:solidFill>
                  </a:tcPr>
                </a:tc>
                <a:tc>
                  <a:txBody>
                    <a:bodyPr wrap="none"/>
                    <a:lstStyle/>
                    <a:p>
                      <a:pPr algn="ctr"/>
                      <a:r>
                        <a:rPr sz="1000" b="0">
                          <a:solidFill>
                            <a:srgbClr val="F0F4FF"/>
                          </a:solidFill>
                          <a:latin typeface="Malgun Gothic"/>
                        </a:rPr>
                        <a:t>$49.98</a:t>
                      </a:r>
                    </a:p>
                  </a:txBody>
                  <a:tcPr anchor="ctr">
                    <a:solidFill>
                      <a:srgbClr val="2A3C64"/>
                    </a:solidFill>
                  </a:tcPr>
                </a:tc>
                <a:tc>
                  <a:txBody>
                    <a:bodyPr wrap="none"/>
                    <a:lstStyle/>
                    <a:p>
                      <a:pPr algn="ctr"/>
                      <a:r>
                        <a:rPr sz="1000" b="0">
                          <a:solidFill>
                            <a:srgbClr val="F0F4FF"/>
                          </a:solidFill>
                          <a:latin typeface="Malgun Gothic"/>
                        </a:rPr>
                        <a:t>22</a:t>
                      </a:r>
                    </a:p>
                  </a:txBody>
                  <a:tcPr anchor="ctr">
                    <a:solidFill>
                      <a:srgbClr val="2A3C64"/>
                    </a:solidFill>
                  </a:tcPr>
                </a:tc>
                <a:tc>
                  <a:txBody>
                    <a:bodyPr wrap="none"/>
                    <a:lstStyle/>
                    <a:p>
                      <a:pPr algn="ctr"/>
                      <a:r>
                        <a:rPr sz="1000" b="1">
                          <a:solidFill>
                            <a:srgbClr val="FF4D6D"/>
                          </a:solidFill>
                          <a:latin typeface="Malgun Gothic"/>
                        </a:rPr>
                        <a:t>-7.30%</a:t>
                      </a:r>
                    </a:p>
                  </a:txBody>
                  <a:tcPr anchor="ctr">
                    <a:solidFill>
                      <a:srgbClr val="2A3C64"/>
                    </a:solidFill>
                  </a:tcPr>
                </a:tc>
                <a:tc>
                  <a:txBody>
                    <a:bodyPr wrap="none"/>
                    <a:lstStyle/>
                    <a:p>
                      <a:pPr algn="ctr"/>
                      <a:r>
                        <a:rPr sz="1000" b="0">
                          <a:solidFill>
                            <a:srgbClr val="F0F4FF"/>
                          </a:solidFill>
                          <a:latin typeface="Malgun Gothic"/>
                        </a:rPr>
                        <a:t>$93,646</a:t>
                      </a:r>
                    </a:p>
                  </a:txBody>
                  <a:tcPr anchor="ctr">
                    <a:solidFill>
                      <a:srgbClr val="2A3C64"/>
                    </a:solidFill>
                  </a:tcPr>
                </a:tc>
              </a:tr>
              <a:tr h="448056">
                <a:tc>
                  <a:txBody>
                    <a:bodyPr wrap="none"/>
                    <a:lstStyle/>
                    <a:p>
                      <a:pPr algn="ctr"/>
                      <a:r>
                        <a:rPr sz="1000" b="0">
                          <a:solidFill>
                            <a:srgbClr val="F0F4FF"/>
                          </a:solidFill>
                          <a:latin typeface="Malgun Gothic"/>
                        </a:rPr>
                        <a:t>#76</a:t>
                      </a:r>
                    </a:p>
                  </a:txBody>
                  <a:tcPr anchor="ctr">
                    <a:solidFill>
                      <a:srgbClr val="2A3C64"/>
                    </a:solidFill>
                  </a:tcPr>
                </a:tc>
                <a:tc>
                  <a:txBody>
                    <a:bodyPr wrap="none"/>
                    <a:lstStyle/>
                    <a:p>
                      <a:pPr algn="ctr"/>
                      <a:r>
                        <a:rPr sz="1000" b="0">
                          <a:solidFill>
                            <a:srgbClr val="F0F4FF"/>
                          </a:solidFill>
                          <a:latin typeface="Malgun Gothic"/>
                        </a:rPr>
                        <a:t>2026-03-03</a:t>
                      </a:r>
                    </a:p>
                  </a:txBody>
                  <a:tcPr anchor="ctr">
                    <a:solidFill>
                      <a:srgbClr val="2A3C64"/>
                    </a:solidFill>
                  </a:tcPr>
                </a:tc>
                <a:tc>
                  <a:txBody>
                    <a:bodyPr wrap="none"/>
                    <a:lstStyle/>
                    <a:p>
                      <a:pPr algn="ctr"/>
                      <a:r>
                        <a:rPr sz="1000" b="0">
                          <a:solidFill>
                            <a:srgbClr val="F0F4FF"/>
                          </a:solidFill>
                          <a:latin typeface="Malgun Gothic"/>
                        </a:rPr>
                        <a:t>$48.02</a:t>
                      </a:r>
                    </a:p>
                  </a:txBody>
                  <a:tcPr anchor="ctr">
                    <a:solidFill>
                      <a:srgbClr val="2A3C64"/>
                    </a:solidFill>
                  </a:tcPr>
                </a:tc>
                <a:tc>
                  <a:txBody>
                    <a:bodyPr wrap="none"/>
                    <a:lstStyle/>
                    <a:p>
                      <a:pPr algn="ctr"/>
                      <a:r>
                        <a:rPr sz="1000" b="0">
                          <a:solidFill>
                            <a:srgbClr val="F0F4FF"/>
                          </a:solidFill>
                          <a:latin typeface="Malgun Gothic"/>
                        </a:rPr>
                        <a:t>RSI 12.35  /  F&amp;G 32</a:t>
                      </a:r>
                    </a:p>
                  </a:txBody>
                  <a:tcPr anchor="ctr">
                    <a:solidFill>
                      <a:srgbClr val="2A3C64"/>
                    </a:solidFill>
                  </a:tcPr>
                </a:tc>
                <a:tc>
                  <a:txBody>
                    <a:bodyPr wrap="none"/>
                    <a:lstStyle/>
                    <a:p>
                      <a:pPr algn="ctr"/>
                      <a:r>
                        <a:rPr sz="1000" b="0">
                          <a:solidFill>
                            <a:srgbClr val="F0F4FF"/>
                          </a:solidFill>
                          <a:latin typeface="Malgun Gothic"/>
                        </a:rPr>
                        <a:t>2026-04-08</a:t>
                      </a:r>
                    </a:p>
                  </a:txBody>
                  <a:tcPr anchor="ctr">
                    <a:solidFill>
                      <a:srgbClr val="2A3C64"/>
                    </a:solidFill>
                  </a:tcPr>
                </a:tc>
                <a:tc>
                  <a:txBody>
                    <a:bodyPr wrap="none"/>
                    <a:lstStyle/>
                    <a:p>
                      <a:pPr algn="ctr"/>
                      <a:r>
                        <a:rPr sz="1000" b="0">
                          <a:solidFill>
                            <a:srgbClr val="F0F4FF"/>
                          </a:solidFill>
                          <a:latin typeface="Malgun Gothic"/>
                        </a:rPr>
                        <a:t>$48.00</a:t>
                      </a:r>
                    </a:p>
                  </a:txBody>
                  <a:tcPr anchor="ctr">
                    <a:solidFill>
                      <a:srgbClr val="2A3C64"/>
                    </a:solidFill>
                  </a:tcPr>
                </a:tc>
                <a:tc>
                  <a:txBody>
                    <a:bodyPr wrap="none"/>
                    <a:lstStyle/>
                    <a:p>
                      <a:pPr algn="ctr"/>
                      <a:r>
                        <a:rPr sz="1000" b="0">
                          <a:solidFill>
                            <a:srgbClr val="F0F4FF"/>
                          </a:solidFill>
                          <a:latin typeface="Malgun Gothic"/>
                        </a:rPr>
                        <a:t>37</a:t>
                      </a:r>
                    </a:p>
                  </a:txBody>
                  <a:tcPr anchor="ctr">
                    <a:solidFill>
                      <a:srgbClr val="2A3C64"/>
                    </a:solidFill>
                  </a:tcPr>
                </a:tc>
                <a:tc>
                  <a:txBody>
                    <a:bodyPr wrap="none"/>
                    <a:lstStyle/>
                    <a:p>
                      <a:pPr algn="ctr"/>
                      <a:r>
                        <a:rPr sz="1000" b="1">
                          <a:solidFill>
                            <a:srgbClr val="FF4D6D"/>
                          </a:solidFill>
                          <a:latin typeface="Malgun Gothic"/>
                        </a:rPr>
                        <a:t>-0.04%</a:t>
                      </a:r>
                    </a:p>
                  </a:txBody>
                  <a:tcPr anchor="ctr">
                    <a:solidFill>
                      <a:srgbClr val="2A3C64"/>
                    </a:solidFill>
                  </a:tcPr>
                </a:tc>
                <a:tc>
                  <a:txBody>
                    <a:bodyPr wrap="none"/>
                    <a:lstStyle/>
                    <a:p>
                      <a:pPr algn="ctr"/>
                      <a:r>
                        <a:rPr sz="1000" b="0">
                          <a:solidFill>
                            <a:srgbClr val="F0F4FF"/>
                          </a:solidFill>
                          <a:latin typeface="Malgun Gothic"/>
                        </a:rPr>
                        <a:t>$93,608</a:t>
                      </a:r>
                    </a:p>
                  </a:txBody>
                  <a:tcPr anchor="ctr">
                    <a:solidFill>
                      <a:srgbClr val="2A3C64"/>
                    </a:solidFill>
                  </a:tcPr>
                </a:tc>
              </a:tr>
              <a:tr h="448056">
                <a:tc>
                  <a:txBody>
                    <a:bodyPr wrap="none"/>
                    <a:lstStyle/>
                    <a:p>
                      <a:pPr algn="ctr"/>
                      <a:r>
                        <a:rPr sz="1000" b="0">
                          <a:solidFill>
                            <a:srgbClr val="F0F4FF"/>
                          </a:solidFill>
                          <a:latin typeface="Malgun Gothic"/>
                        </a:rPr>
                        <a:t>#77</a:t>
                      </a:r>
                    </a:p>
                  </a:txBody>
                  <a:tcPr anchor="ctr">
                    <a:solidFill>
                      <a:srgbClr val="2A3C64"/>
                    </a:solidFill>
                  </a:tcPr>
                </a:tc>
                <a:tc>
                  <a:txBody>
                    <a:bodyPr wrap="none"/>
                    <a:lstStyle/>
                    <a:p>
                      <a:pPr algn="ctr"/>
                      <a:r>
                        <a:rPr sz="1000" b="0">
                          <a:solidFill>
                            <a:srgbClr val="F0F4FF"/>
                          </a:solidFill>
                          <a:latin typeface="Malgun Gothic"/>
                        </a:rPr>
                        <a:t>2026-05-19</a:t>
                      </a:r>
                    </a:p>
                  </a:txBody>
                  <a:tcPr anchor="ctr">
                    <a:solidFill>
                      <a:srgbClr val="2A3C64"/>
                    </a:solidFill>
                  </a:tcPr>
                </a:tc>
                <a:tc>
                  <a:txBody>
                    <a:bodyPr wrap="none"/>
                    <a:lstStyle/>
                    <a:p>
                      <a:pPr algn="ctr"/>
                      <a:r>
                        <a:rPr sz="1000" b="0">
                          <a:solidFill>
                            <a:srgbClr val="F0F4FF"/>
                          </a:solidFill>
                          <a:latin typeface="Malgun Gothic"/>
                        </a:rPr>
                        <a:t>$72.93</a:t>
                      </a:r>
                    </a:p>
                  </a:txBody>
                  <a:tcPr anchor="ctr">
                    <a:solidFill>
                      <a:srgbClr val="2A3C64"/>
                    </a:solidFill>
                  </a:tcPr>
                </a:tc>
                <a:tc>
                  <a:txBody>
                    <a:bodyPr wrap="none"/>
                    <a:lstStyle/>
                    <a:p>
                      <a:pPr algn="ctr"/>
                      <a:r>
                        <a:rPr sz="1000" b="0">
                          <a:solidFill>
                            <a:srgbClr val="F0F4FF"/>
                          </a:solidFill>
                          <a:latin typeface="Malgun Gothic"/>
                        </a:rPr>
                        <a:t>RSI 12.7  /  F&amp;G 59</a:t>
                      </a:r>
                    </a:p>
                  </a:txBody>
                  <a:tcPr anchor="ctr">
                    <a:solidFill>
                      <a:srgbClr val="2A3C64"/>
                    </a:solidFill>
                  </a:tcPr>
                </a:tc>
                <a:tc>
                  <a:txBody>
                    <a:bodyPr wrap="none"/>
                    <a:lstStyle/>
                    <a:p>
                      <a:pPr algn="ctr"/>
                      <a:r>
                        <a:rPr sz="1000" b="0">
                          <a:solidFill>
                            <a:srgbClr val="F0F4FF"/>
                          </a:solidFill>
                          <a:latin typeface="Malgun Gothic"/>
                        </a:rPr>
                        <a:t>2026-05-21</a:t>
                      </a:r>
                    </a:p>
                  </a:txBody>
                  <a:tcPr anchor="ctr">
                    <a:solidFill>
                      <a:srgbClr val="2A3C64"/>
                    </a:solidFill>
                  </a:tcPr>
                </a:tc>
                <a:tc>
                  <a:txBody>
                    <a:bodyPr wrap="none"/>
                    <a:lstStyle/>
                    <a:p>
                      <a:pPr algn="ctr"/>
                      <a:r>
                        <a:rPr sz="1000" b="0">
                          <a:solidFill>
                            <a:srgbClr val="F0F4FF"/>
                          </a:solidFill>
                          <a:latin typeface="Malgun Gothic"/>
                        </a:rPr>
                        <a:t>$76.95</a:t>
                      </a:r>
                    </a:p>
                  </a:txBody>
                  <a:tcPr anchor="ctr">
                    <a:solidFill>
                      <a:srgbClr val="2A3C64"/>
                    </a:solidFill>
                  </a:tcPr>
                </a:tc>
                <a:tc>
                  <a:txBody>
                    <a:bodyPr wrap="none"/>
                    <a:lstStyle/>
                    <a:p>
                      <a:pPr algn="ctr"/>
                      <a:r>
                        <a:rPr sz="1000" b="0">
                          <a:solidFill>
                            <a:srgbClr val="F0F4FF"/>
                          </a:solidFill>
                          <a:latin typeface="Malgun Gothic"/>
                        </a:rPr>
                        <a:t>3</a:t>
                      </a:r>
                    </a:p>
                  </a:txBody>
                  <a:tcPr anchor="ctr">
                    <a:solidFill>
                      <a:srgbClr val="2A3C64"/>
                    </a:solidFill>
                  </a:tcPr>
                </a:tc>
                <a:tc>
                  <a:txBody>
                    <a:bodyPr wrap="none"/>
                    <a:lstStyle/>
                    <a:p>
                      <a:pPr algn="ctr"/>
                      <a:r>
                        <a:rPr sz="1000" b="1">
                          <a:solidFill>
                            <a:srgbClr val="00D48A"/>
                          </a:solidFill>
                          <a:latin typeface="Malgun Gothic"/>
                        </a:rPr>
                        <a:t>+5.51%</a:t>
                      </a:r>
                    </a:p>
                  </a:txBody>
                  <a:tcPr anchor="ctr">
                    <a:solidFill>
                      <a:srgbClr val="2A3C64"/>
                    </a:solidFill>
                  </a:tcPr>
                </a:tc>
                <a:tc>
                  <a:txBody>
                    <a:bodyPr wrap="none"/>
                    <a:lstStyle/>
                    <a:p>
                      <a:pPr algn="ctr"/>
                      <a:r>
                        <a:rPr sz="1000" b="0">
                          <a:solidFill>
                            <a:srgbClr val="F0F4FF"/>
                          </a:solidFill>
                          <a:latin typeface="Malgun Gothic"/>
                        </a:rPr>
                        <a:t>$98,766</a:t>
                      </a:r>
                    </a:p>
                  </a:txBody>
                  <a:tcPr anchor="ctr">
                    <a:solidFill>
                      <a:srgbClr val="2A3C64"/>
                    </a:solidFill>
                  </a:tcPr>
                </a:tc>
              </a:tr>
              <a:tr h="448056">
                <a:tc>
                  <a:txBody>
                    <a:bodyPr wrap="none"/>
                    <a:lstStyle/>
                    <a:p>
                      <a:pPr algn="ctr"/>
                      <a:r>
                        <a:rPr sz="1000" b="0">
                          <a:solidFill>
                            <a:srgbClr val="F0F4FF"/>
                          </a:solidFill>
                          <a:latin typeface="Malgun Gothic"/>
                        </a:rPr>
                        <a:t>#78</a:t>
                      </a:r>
                    </a:p>
                  </a:txBody>
                  <a:tcPr anchor="ctr">
                    <a:solidFill>
                      <a:srgbClr val="2A3C64"/>
                    </a:solidFill>
                  </a:tcPr>
                </a:tc>
                <a:tc>
                  <a:txBody>
                    <a:bodyPr wrap="none"/>
                    <a:lstStyle/>
                    <a:p>
                      <a:pPr algn="ctr"/>
                      <a:r>
                        <a:rPr sz="1000" b="0">
                          <a:solidFill>
                            <a:srgbClr val="F0F4FF"/>
                          </a:solidFill>
                          <a:latin typeface="Malgun Gothic"/>
                        </a:rPr>
                        <a:t>2026-06-05</a:t>
                      </a:r>
                    </a:p>
                  </a:txBody>
                  <a:tcPr anchor="ctr">
                    <a:solidFill>
                      <a:srgbClr val="2A3C64"/>
                    </a:solidFill>
                  </a:tcPr>
                </a:tc>
                <a:tc>
                  <a:txBody>
                    <a:bodyPr wrap="none"/>
                    <a:lstStyle/>
                    <a:p>
                      <a:pPr algn="ctr"/>
                      <a:r>
                        <a:rPr sz="1000" b="0">
                          <a:solidFill>
                            <a:srgbClr val="F0F4FF"/>
                          </a:solidFill>
                          <a:latin typeface="Malgun Gothic"/>
                        </a:rPr>
                        <a:t>$73.05</a:t>
                      </a:r>
                    </a:p>
                  </a:txBody>
                  <a:tcPr anchor="ctr">
                    <a:solidFill>
                      <a:srgbClr val="2A3C64"/>
                    </a:solidFill>
                  </a:tcPr>
                </a:tc>
                <a:tc>
                  <a:txBody>
                    <a:bodyPr wrap="none"/>
                    <a:lstStyle/>
                    <a:p>
                      <a:pPr algn="ctr"/>
                      <a:r>
                        <a:rPr sz="1000" b="0">
                          <a:solidFill>
                            <a:srgbClr val="F0F4FF"/>
                          </a:solidFill>
                          <a:latin typeface="Malgun Gothic"/>
                        </a:rPr>
                        <a:t>RSI 2.39  /  F&amp;G 42</a:t>
                      </a:r>
                    </a:p>
                  </a:txBody>
                  <a:tcPr anchor="ctr">
                    <a:solidFill>
                      <a:srgbClr val="2A3C64"/>
                    </a:solidFill>
                  </a:tcPr>
                </a:tc>
                <a:tc>
                  <a:txBody>
                    <a:bodyPr wrap="none"/>
                    <a:lstStyle/>
                    <a:p>
                      <a:pPr algn="ctr"/>
                      <a:r>
                        <a:rPr sz="1000" b="0">
                          <a:solidFill>
                            <a:srgbClr val="F0F4FF"/>
                          </a:solidFill>
                          <a:latin typeface="Malgun Gothic"/>
                        </a:rPr>
                        <a:t>2026-06-15</a:t>
                      </a:r>
                    </a:p>
                  </a:txBody>
                  <a:tcPr anchor="ctr">
                    <a:solidFill>
                      <a:srgbClr val="2A3C64"/>
                    </a:solidFill>
                  </a:tcPr>
                </a:tc>
                <a:tc>
                  <a:txBody>
                    <a:bodyPr wrap="none"/>
                    <a:lstStyle/>
                    <a:p>
                      <a:pPr algn="ctr"/>
                      <a:r>
                        <a:rPr sz="1000" b="0">
                          <a:solidFill>
                            <a:srgbClr val="F0F4FF"/>
                          </a:solidFill>
                          <a:latin typeface="Malgun Gothic"/>
                        </a:rPr>
                        <a:t>$84.59</a:t>
                      </a:r>
                    </a:p>
                  </a:txBody>
                  <a:tcPr anchor="ctr">
                    <a:solidFill>
                      <a:srgbClr val="2A3C64"/>
                    </a:solidFill>
                  </a:tcPr>
                </a:tc>
                <a:tc>
                  <a:txBody>
                    <a:bodyPr wrap="none"/>
                    <a:lstStyle/>
                    <a:p>
                      <a:pPr algn="ctr"/>
                      <a:r>
                        <a:rPr sz="1000" b="0">
                          <a:solidFill>
                            <a:srgbClr val="F0F4FF"/>
                          </a:solidFill>
                          <a:latin typeface="Malgun Gothic"/>
                        </a:rPr>
                        <a:t>11</a:t>
                      </a:r>
                    </a:p>
                  </a:txBody>
                  <a:tcPr anchor="ctr">
                    <a:solidFill>
                      <a:srgbClr val="2A3C64"/>
                    </a:solidFill>
                  </a:tcPr>
                </a:tc>
                <a:tc>
                  <a:txBody>
                    <a:bodyPr wrap="none"/>
                    <a:lstStyle/>
                    <a:p>
                      <a:pPr algn="ctr"/>
                      <a:r>
                        <a:rPr sz="1000" b="1">
                          <a:solidFill>
                            <a:srgbClr val="00D48A"/>
                          </a:solidFill>
                          <a:latin typeface="Malgun Gothic"/>
                        </a:rPr>
                        <a:t>+15.80%</a:t>
                      </a:r>
                    </a:p>
                  </a:txBody>
                  <a:tcPr anchor="ctr">
                    <a:solidFill>
                      <a:srgbClr val="2A3C64"/>
                    </a:solidFill>
                  </a:tcPr>
                </a:tc>
                <a:tc>
                  <a:txBody>
                    <a:bodyPr wrap="none"/>
                    <a:lstStyle/>
                    <a:p>
                      <a:pPr algn="ctr"/>
                      <a:r>
                        <a:rPr sz="1000" b="0">
                          <a:solidFill>
                            <a:srgbClr val="F0F4FF"/>
                          </a:solidFill>
                          <a:latin typeface="Malgun Gothic"/>
                        </a:rPr>
                        <a:t>$114,371</a:t>
                      </a:r>
                    </a:p>
                  </a:txBody>
                  <a:tcPr anchor="ctr">
                    <a:solidFill>
                      <a:srgbClr val="2A3C64"/>
                    </a:solidFill>
                  </a:tcPr>
                </a:tc>
              </a:tr>
            </a:tbl>
          </a:graphicData>
        </a:graphic>
      </p:graphicFrame>
      <p:sp>
        <p:nvSpPr>
          <p:cNvPr id="6" name="TextBox 5"/>
          <p:cNvSpPr txBox="1"/>
          <p:nvPr/>
        </p:nvSpPr>
        <p:spPr>
          <a:xfrm>
            <a:off x="320040" y="6492240"/>
            <a:ext cx="11521440" cy="292608"/>
          </a:xfrm>
          <a:prstGeom prst="rect">
            <a:avLst/>
          </a:prstGeom>
          <a:noFill/>
        </p:spPr>
        <p:txBody>
          <a:bodyPr wrap="square">
            <a:spAutoFit/>
          </a:bodyPr>
          <a:lstStyle/>
          <a:p>
            <a:pPr algn="ctr"/>
            <a:r>
              <a:rPr sz="1000" b="0" i="0">
                <a:solidFill>
                  <a:srgbClr val="889EBC"/>
                </a:solidFill>
                <a:latin typeface="Malgun Gothic"/>
              </a:rPr>
              <a:t>※ 정산금액: 해당 연도 $100,000 기준 복리 누적 · 소수점 거래 · 수수료/세금 미포함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지표 설명  &amp;  연도별 수익률</a:t>
            </a:r>
          </a:p>
        </p:txBody>
      </p:sp>
      <p:sp>
        <p:nvSpPr>
          <p:cNvPr id="4" name="Rectangle 3"/>
          <p:cNvSpPr/>
          <p:nvPr/>
        </p:nvSpPr>
        <p:spPr>
          <a:xfrm>
            <a:off x="365760" y="749808"/>
            <a:ext cx="11457432" cy="190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822960"/>
            <a:ext cx="4846320" cy="1901952"/>
          </a:xfrm>
          <a:prstGeom prst="rect">
            <a:avLst/>
          </a:prstGeom>
          <a:solidFill>
            <a:srgbClr val="2A3C64"/>
          </a:solidFill>
          <a:ln w="1524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914400"/>
            <a:ext cx="4626864" cy="365760"/>
          </a:xfrm>
          <a:prstGeom prst="rect">
            <a:avLst/>
          </a:prstGeom>
          <a:noFill/>
        </p:spPr>
        <p:txBody>
          <a:bodyPr wrap="square">
            <a:spAutoFit/>
          </a:bodyPr>
          <a:lstStyle/>
          <a:p>
            <a:pPr algn="l"/>
            <a:r>
              <a:rPr sz="1300" b="1" i="0">
                <a:solidFill>
                  <a:srgbClr val="009FFF"/>
                </a:solidFill>
                <a:latin typeface="Malgun Gothic"/>
              </a:rPr>
              <a:t>RSI(2)  —  Relative Strength Index</a:t>
            </a:r>
          </a:p>
        </p:txBody>
      </p:sp>
      <p:sp>
        <p:nvSpPr>
          <p:cNvPr id="7" name="TextBox 6"/>
          <p:cNvSpPr txBox="1"/>
          <p:nvPr/>
        </p:nvSpPr>
        <p:spPr>
          <a:xfrm>
            <a:off x="502920" y="1316736"/>
            <a:ext cx="4572000" cy="274320"/>
          </a:xfrm>
          <a:prstGeom prst="rect">
            <a:avLst/>
          </a:prstGeom>
          <a:noFill/>
        </p:spPr>
        <p:txBody>
          <a:bodyPr wrap="square">
            <a:spAutoFit/>
          </a:bodyPr>
          <a:lstStyle/>
          <a:p>
            <a:pPr algn="l"/>
            <a:r>
              <a:rPr sz="1000" b="0" i="0">
                <a:solidFill>
                  <a:srgbClr val="C0CAE0"/>
                </a:solidFill>
                <a:latin typeface="Malgun Gothic"/>
              </a:rPr>
              <a:t>2일 종가 변화를 Wilder 지수평활(α=0.5)해 0~100으로 환산.</a:t>
            </a:r>
          </a:p>
        </p:txBody>
      </p:sp>
      <p:sp>
        <p:nvSpPr>
          <p:cNvPr id="8" name="TextBox 7"/>
          <p:cNvSpPr txBox="1"/>
          <p:nvPr/>
        </p:nvSpPr>
        <p:spPr>
          <a:xfrm>
            <a:off x="502920" y="1581912"/>
            <a:ext cx="4572000" cy="274320"/>
          </a:xfrm>
          <a:prstGeom prst="rect">
            <a:avLst/>
          </a:prstGeom>
          <a:noFill/>
        </p:spPr>
        <p:txBody>
          <a:bodyPr wrap="square">
            <a:spAutoFit/>
          </a:bodyPr>
          <a:lstStyle/>
          <a:p>
            <a:pPr algn="l"/>
            <a:r>
              <a:rPr sz="1000" b="1" i="0">
                <a:solidFill>
                  <a:srgbClr val="C0CAE0"/>
                </a:solidFill>
                <a:latin typeface="Malgun Gothic"/>
              </a:rPr>
              <a:t>매수 신호 ≤ 15.0  (과매도)   /   매도 신호 ≥ 75.0  (과매수)</a:t>
            </a:r>
          </a:p>
        </p:txBody>
      </p:sp>
      <p:sp>
        <p:nvSpPr>
          <p:cNvPr id="9" name="TextBox 8"/>
          <p:cNvSpPr txBox="1"/>
          <p:nvPr/>
        </p:nvSpPr>
        <p:spPr>
          <a:xfrm>
            <a:off x="502920" y="1847088"/>
            <a:ext cx="4572000" cy="274320"/>
          </a:xfrm>
          <a:prstGeom prst="rect">
            <a:avLst/>
          </a:prstGeom>
          <a:noFill/>
        </p:spPr>
        <p:txBody>
          <a:bodyPr wrap="square">
            <a:spAutoFit/>
          </a:bodyPr>
          <a:lstStyle/>
          <a:p>
            <a:pPr algn="l"/>
            <a:r>
              <a:rPr sz="900" b="0" i="0">
                <a:solidFill>
                  <a:srgbClr val="889EBC"/>
                </a:solidFill>
                <a:latin typeface="Malgun Gothic"/>
              </a:rPr>
              <a:t>평균상승 = 0.5 × max(오늘-어제, 0) + 0.5 × 전일 평균상승</a:t>
            </a:r>
          </a:p>
        </p:txBody>
      </p:sp>
      <p:sp>
        <p:nvSpPr>
          <p:cNvPr id="10" name="TextBox 9"/>
          <p:cNvSpPr txBox="1"/>
          <p:nvPr/>
        </p:nvSpPr>
        <p:spPr>
          <a:xfrm>
            <a:off x="502920" y="2112264"/>
            <a:ext cx="4572000" cy="274320"/>
          </a:xfrm>
          <a:prstGeom prst="rect">
            <a:avLst/>
          </a:prstGeom>
          <a:noFill/>
        </p:spPr>
        <p:txBody>
          <a:bodyPr wrap="square">
            <a:spAutoFit/>
          </a:bodyPr>
          <a:lstStyle/>
          <a:p>
            <a:pPr algn="l"/>
            <a:r>
              <a:rPr sz="900" b="0" i="0">
                <a:solidFill>
                  <a:srgbClr val="889EBC"/>
                </a:solidFill>
                <a:latin typeface="Malgun Gothic"/>
              </a:rPr>
              <a:t>평균하락 = 0.5 × max(어제-오늘, 0) + 0.5 × 전일 평균하락</a:t>
            </a:r>
          </a:p>
        </p:txBody>
      </p:sp>
      <p:sp>
        <p:nvSpPr>
          <p:cNvPr id="11" name="TextBox 10"/>
          <p:cNvSpPr txBox="1"/>
          <p:nvPr/>
        </p:nvSpPr>
        <p:spPr>
          <a:xfrm>
            <a:off x="502920" y="2377440"/>
            <a:ext cx="4572000" cy="274320"/>
          </a:xfrm>
          <a:prstGeom prst="rect">
            <a:avLst/>
          </a:prstGeom>
          <a:noFill/>
        </p:spPr>
        <p:txBody>
          <a:bodyPr wrap="square">
            <a:spAutoFit/>
          </a:bodyPr>
          <a:lstStyle/>
          <a:p>
            <a:pPr algn="l"/>
            <a:r>
              <a:rPr sz="900" b="1" i="0">
                <a:solidFill>
                  <a:srgbClr val="009FFF"/>
                </a:solidFill>
                <a:latin typeface="Malgun Gothic"/>
              </a:rPr>
              <a:t>RSI(2) = 100 − 100 ÷ (1 + 평균상승 ÷ 평균하락)</a:t>
            </a:r>
          </a:p>
        </p:txBody>
      </p:sp>
      <p:sp>
        <p:nvSpPr>
          <p:cNvPr id="12" name="Rectangle 11"/>
          <p:cNvSpPr/>
          <p:nvPr/>
        </p:nvSpPr>
        <p:spPr>
          <a:xfrm>
            <a:off x="365760" y="2834640"/>
            <a:ext cx="4846320" cy="1901952"/>
          </a:xfrm>
          <a:prstGeom prst="rect">
            <a:avLst/>
          </a:prstGeom>
          <a:solidFill>
            <a:srgbClr val="2A3C64"/>
          </a:solidFill>
          <a:ln w="1524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26080"/>
            <a:ext cx="4626864" cy="365760"/>
          </a:xfrm>
          <a:prstGeom prst="rect">
            <a:avLst/>
          </a:prstGeom>
          <a:noFill/>
        </p:spPr>
        <p:txBody>
          <a:bodyPr wrap="square">
            <a:spAutoFit/>
          </a:bodyPr>
          <a:lstStyle/>
          <a:p>
            <a:pPr algn="l"/>
            <a:r>
              <a:rPr sz="1300" b="1" i="0">
                <a:solidFill>
                  <a:srgbClr val="FFD700"/>
                </a:solidFill>
                <a:latin typeface="Malgun Gothic"/>
              </a:rPr>
              <a:t>F&amp;G  —  CNN Fear &amp; Greed Index  (0~100)</a:t>
            </a:r>
          </a:p>
        </p:txBody>
      </p:sp>
      <p:sp>
        <p:nvSpPr>
          <p:cNvPr id="14" name="TextBox 13"/>
          <p:cNvSpPr txBox="1"/>
          <p:nvPr/>
        </p:nvSpPr>
        <p:spPr>
          <a:xfrm>
            <a:off x="502920" y="3328416"/>
            <a:ext cx="4572000" cy="274320"/>
          </a:xfrm>
          <a:prstGeom prst="rect">
            <a:avLst/>
          </a:prstGeom>
          <a:noFill/>
        </p:spPr>
        <p:txBody>
          <a:bodyPr wrap="square">
            <a:spAutoFit/>
          </a:bodyPr>
          <a:lstStyle/>
          <a:p>
            <a:pPr algn="l"/>
            <a:r>
              <a:rPr sz="1000" b="0" i="0">
                <a:solidFill>
                  <a:srgbClr val="C0CAE0"/>
                </a:solidFill>
                <a:latin typeface="Malgun Gothic"/>
              </a:rPr>
              <a:t>CNN이 7가지 시장 데이터를 매일 집계해 0(공포)~100(탐욕)으로 수치화.</a:t>
            </a:r>
          </a:p>
        </p:txBody>
      </p:sp>
      <p:sp>
        <p:nvSpPr>
          <p:cNvPr id="15" name="TextBox 14"/>
          <p:cNvSpPr txBox="1"/>
          <p:nvPr/>
        </p:nvSpPr>
        <p:spPr>
          <a:xfrm>
            <a:off x="502920" y="3593592"/>
            <a:ext cx="4572000" cy="274320"/>
          </a:xfrm>
          <a:prstGeom prst="rect">
            <a:avLst/>
          </a:prstGeom>
          <a:noFill/>
        </p:spPr>
        <p:txBody>
          <a:bodyPr wrap="square">
            <a:spAutoFit/>
          </a:bodyPr>
          <a:lstStyle/>
          <a:p>
            <a:pPr algn="l"/>
            <a:r>
              <a:rPr sz="1000" b="1" i="0">
                <a:solidFill>
                  <a:srgbClr val="C0CAE0"/>
                </a:solidFill>
                <a:latin typeface="Malgun Gothic"/>
              </a:rPr>
              <a:t>매수 보류 ≥ 75 (탐욕)   /   매도 보류 ≤ 25 (공포)</a:t>
            </a:r>
          </a:p>
        </p:txBody>
      </p:sp>
      <p:sp>
        <p:nvSpPr>
          <p:cNvPr id="16" name="TextBox 15"/>
          <p:cNvSpPr txBox="1"/>
          <p:nvPr/>
        </p:nvSpPr>
        <p:spPr>
          <a:xfrm>
            <a:off x="502920" y="3858768"/>
            <a:ext cx="4572000" cy="274320"/>
          </a:xfrm>
          <a:prstGeom prst="rect">
            <a:avLst/>
          </a:prstGeom>
          <a:noFill/>
        </p:spPr>
        <p:txBody>
          <a:bodyPr wrap="square">
            <a:spAutoFit/>
          </a:bodyPr>
          <a:lstStyle/>
          <a:p>
            <a:pPr algn="l"/>
            <a:r>
              <a:rPr sz="900" b="0" i="0">
                <a:solidFill>
                  <a:srgbClr val="889EBC"/>
                </a:solidFill>
                <a:latin typeface="Malgun Gothic"/>
              </a:rPr>
              <a:t>① 모멘텀(S&amp;P500/125일MA)  ② 주가강도(52주 고저)  ③ 거래량추세</a:t>
            </a:r>
          </a:p>
        </p:txBody>
      </p:sp>
      <p:sp>
        <p:nvSpPr>
          <p:cNvPr id="17" name="TextBox 16"/>
          <p:cNvSpPr txBox="1"/>
          <p:nvPr/>
        </p:nvSpPr>
        <p:spPr>
          <a:xfrm>
            <a:off x="502920" y="4123944"/>
            <a:ext cx="4572000" cy="274320"/>
          </a:xfrm>
          <a:prstGeom prst="rect">
            <a:avLst/>
          </a:prstGeom>
          <a:noFill/>
        </p:spPr>
        <p:txBody>
          <a:bodyPr wrap="square">
            <a:spAutoFit/>
          </a:bodyPr>
          <a:lstStyle/>
          <a:p>
            <a:pPr algn="l"/>
            <a:r>
              <a:rPr sz="900" b="0" i="0">
                <a:solidFill>
                  <a:srgbClr val="889EBC"/>
                </a:solidFill>
                <a:latin typeface="Malgun Gothic"/>
              </a:rPr>
              <a:t>④ 풋/콜 비율  ⑤ VIX 변동성  ⑥ 안전자산 수요  ⑦ 정크본드 수요</a:t>
            </a:r>
          </a:p>
        </p:txBody>
      </p:sp>
      <p:sp>
        <p:nvSpPr>
          <p:cNvPr id="18" name="TextBox 17"/>
          <p:cNvSpPr txBox="1"/>
          <p:nvPr/>
        </p:nvSpPr>
        <p:spPr>
          <a:xfrm>
            <a:off x="502920" y="4389120"/>
            <a:ext cx="4572000" cy="274320"/>
          </a:xfrm>
          <a:prstGeom prst="rect">
            <a:avLst/>
          </a:prstGeom>
          <a:noFill/>
        </p:spPr>
        <p:txBody>
          <a:bodyPr wrap="square">
            <a:spAutoFit/>
          </a:bodyPr>
          <a:lstStyle/>
          <a:p>
            <a:pPr algn="l"/>
            <a:r>
              <a:rPr sz="900" b="1" i="0">
                <a:solidFill>
                  <a:srgbClr val="FFD700"/>
                </a:solidFill>
                <a:latin typeface="Malgun Gothic"/>
              </a:rPr>
              <a:t>→ 7가지 지표를 동일 가중 평균해 0~100 단일 지수로 환산</a:t>
            </a:r>
          </a:p>
        </p:txBody>
      </p:sp>
      <p:sp>
        <p:nvSpPr>
          <p:cNvPr id="19" name="Rectangle 18"/>
          <p:cNvSpPr/>
          <p:nvPr/>
        </p:nvSpPr>
        <p:spPr>
          <a:xfrm>
            <a:off x="365760" y="4846320"/>
            <a:ext cx="4846320" cy="1901952"/>
          </a:xfrm>
          <a:prstGeom prst="rect">
            <a:avLst/>
          </a:prstGeom>
          <a:solidFill>
            <a:srgbClr val="2A3C64"/>
          </a:solidFill>
          <a:ln w="1524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4937760"/>
            <a:ext cx="4626864" cy="365760"/>
          </a:xfrm>
          <a:prstGeom prst="rect">
            <a:avLst/>
          </a:prstGeom>
          <a:noFill/>
        </p:spPr>
        <p:txBody>
          <a:bodyPr wrap="square">
            <a:spAutoFit/>
          </a:bodyPr>
          <a:lstStyle/>
          <a:p>
            <a:pPr algn="l"/>
            <a:r>
              <a:rPr sz="1300" b="1" i="0">
                <a:solidFill>
                  <a:srgbClr val="FF4D6D"/>
                </a:solidFill>
                <a:latin typeface="Malgun Gothic"/>
              </a:rPr>
              <a:t>MDD  —  Maximum Drawdown  (최대 낙폭)</a:t>
            </a:r>
          </a:p>
        </p:txBody>
      </p:sp>
      <p:sp>
        <p:nvSpPr>
          <p:cNvPr id="21" name="TextBox 20"/>
          <p:cNvSpPr txBox="1"/>
          <p:nvPr/>
        </p:nvSpPr>
        <p:spPr>
          <a:xfrm>
            <a:off x="502920" y="5340096"/>
            <a:ext cx="4572000" cy="274320"/>
          </a:xfrm>
          <a:prstGeom prst="rect">
            <a:avLst/>
          </a:prstGeom>
          <a:noFill/>
        </p:spPr>
        <p:txBody>
          <a:bodyPr wrap="square">
            <a:spAutoFit/>
          </a:bodyPr>
          <a:lstStyle/>
          <a:p>
            <a:pPr algn="l"/>
            <a:r>
              <a:rPr sz="1000" b="0" i="0">
                <a:solidFill>
                  <a:srgbClr val="C0CAE0"/>
                </a:solidFill>
                <a:latin typeface="Malgun Gothic"/>
              </a:rPr>
              <a:t>투자 기간 내 최고 자산 대비 최대 손실률 (낮을수록 전략 안정).</a:t>
            </a:r>
          </a:p>
        </p:txBody>
      </p:sp>
      <p:sp>
        <p:nvSpPr>
          <p:cNvPr id="22" name="TextBox 21"/>
          <p:cNvSpPr txBox="1"/>
          <p:nvPr/>
        </p:nvSpPr>
        <p:spPr>
          <a:xfrm>
            <a:off x="502920" y="5605272"/>
            <a:ext cx="4572000" cy="274320"/>
          </a:xfrm>
          <a:prstGeom prst="rect">
            <a:avLst/>
          </a:prstGeom>
          <a:noFill/>
        </p:spPr>
        <p:txBody>
          <a:bodyPr wrap="square">
            <a:spAutoFit/>
          </a:bodyPr>
          <a:lstStyle/>
          <a:p>
            <a:pPr algn="l"/>
            <a:r>
              <a:rPr sz="1000" b="0" i="0">
                <a:solidFill>
                  <a:srgbClr val="C0CAE0"/>
                </a:solidFill>
                <a:latin typeface="Malgun Gothic"/>
              </a:rPr>
              <a:t>연도별: 매년 $100,000 재시작 → 사이클 정산마다 자산값 추적.</a:t>
            </a:r>
          </a:p>
        </p:txBody>
      </p:sp>
      <p:sp>
        <p:nvSpPr>
          <p:cNvPr id="23" name="TextBox 22"/>
          <p:cNvSpPr txBox="1"/>
          <p:nvPr/>
        </p:nvSpPr>
        <p:spPr>
          <a:xfrm>
            <a:off x="502920" y="5870448"/>
            <a:ext cx="4572000" cy="274320"/>
          </a:xfrm>
          <a:prstGeom prst="rect">
            <a:avLst/>
          </a:prstGeom>
          <a:noFill/>
        </p:spPr>
        <p:txBody>
          <a:bodyPr wrap="square">
            <a:spAutoFit/>
          </a:bodyPr>
          <a:lstStyle/>
          <a:p>
            <a:pPr algn="l"/>
            <a:r>
              <a:rPr sz="900" b="0" i="0">
                <a:solidFill>
                  <a:srgbClr val="889EBC"/>
                </a:solidFill>
                <a:latin typeface="Malgun Gothic"/>
              </a:rPr>
              <a:t>MDD(%) = (최고정산자산 − 현재정산자산) ÷ 최고정산자산 × 100</a:t>
            </a:r>
          </a:p>
        </p:txBody>
      </p:sp>
      <p:sp>
        <p:nvSpPr>
          <p:cNvPr id="24" name="TextBox 23"/>
          <p:cNvSpPr txBox="1"/>
          <p:nvPr/>
        </p:nvSpPr>
        <p:spPr>
          <a:xfrm>
            <a:off x="502920" y="6135624"/>
            <a:ext cx="4572000" cy="274320"/>
          </a:xfrm>
          <a:prstGeom prst="rect">
            <a:avLst/>
          </a:prstGeom>
          <a:noFill/>
        </p:spPr>
        <p:txBody>
          <a:bodyPr wrap="square">
            <a:spAutoFit/>
          </a:bodyPr>
          <a:lstStyle/>
          <a:p>
            <a:pPr algn="l"/>
            <a:r>
              <a:rPr sz="900" b="0" i="0">
                <a:solidFill>
                  <a:srgbClr val="889EBC"/>
                </a:solidFill>
                <a:latin typeface="Malgun Gothic"/>
              </a:rPr>
              <a:t>최고점: 연도 시작~현재까지 매 사이클 정산 후 누적 최댓값</a:t>
            </a:r>
          </a:p>
        </p:txBody>
      </p:sp>
      <p:sp>
        <p:nvSpPr>
          <p:cNvPr id="25" name="TextBox 24"/>
          <p:cNvSpPr txBox="1"/>
          <p:nvPr/>
        </p:nvSpPr>
        <p:spPr>
          <a:xfrm>
            <a:off x="502920" y="6400800"/>
            <a:ext cx="4572000" cy="274320"/>
          </a:xfrm>
          <a:prstGeom prst="rect">
            <a:avLst/>
          </a:prstGeom>
          <a:noFill/>
        </p:spPr>
        <p:txBody>
          <a:bodyPr wrap="square">
            <a:spAutoFit/>
          </a:bodyPr>
          <a:lstStyle/>
          <a:p>
            <a:pPr algn="l"/>
            <a:r>
              <a:rPr sz="900" b="1" i="0">
                <a:solidFill>
                  <a:srgbClr val="FF4D6D"/>
                </a:solidFill>
                <a:latin typeface="Malgun Gothic"/>
              </a:rPr>
              <a:t>→ 일중 최저값 아닌 사이클 단위 정산 기준으로 낙폭 측정</a:t>
            </a:r>
          </a:p>
        </p:txBody>
      </p:sp>
      <p:sp>
        <p:nvSpPr>
          <p:cNvPr id="26" name="Rectangle 25"/>
          <p:cNvSpPr/>
          <p:nvPr/>
        </p:nvSpPr>
        <p:spPr>
          <a:xfrm>
            <a:off x="5349240" y="822960"/>
            <a:ext cx="22860" cy="54864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822960"/>
            <a:ext cx="6217920" cy="347472"/>
          </a:xfrm>
          <a:prstGeom prst="rect">
            <a:avLst/>
          </a:prstGeom>
          <a:noFill/>
        </p:spPr>
        <p:txBody>
          <a:bodyPr wrap="square">
            <a:spAutoFit/>
          </a:bodyPr>
          <a:lstStyle/>
          <a:p>
            <a:pPr algn="ctr"/>
            <a:r>
              <a:rPr sz="1100" b="0" i="0">
                <a:solidFill>
                  <a:srgbClr val="889EBC"/>
                </a:solidFill>
                <a:latin typeface="Malgun Gothic"/>
              </a:rPr>
              <a:t>연도별 수익률  (연 $100,000 기준 · 소수점 거래 · 수수료/세금 미포함)</a:t>
            </a:r>
          </a:p>
        </p:txBody>
      </p:sp>
      <p:graphicFrame>
        <p:nvGraphicFramePr>
          <p:cNvPr id="28" name="Table 27"/>
          <p:cNvGraphicFramePr>
            <a:graphicFrameLocks noGrp="1"/>
          </p:cNvGraphicFramePr>
          <p:nvPr/>
        </p:nvGraphicFramePr>
        <p:xfrm>
          <a:off x="5577840" y="1234440"/>
          <a:ext cx="6126480" cy="2560320"/>
        </p:xfrm>
        <a:graphic>
          <a:graphicData uri="http://schemas.openxmlformats.org/drawingml/2006/table">
            <a:tbl>
              <a:tblPr firstRow="1" bandRow="1">
                <a:tableStyleId>{5C22544A-7EE6-4342-B048-85BDC9FD1C3A}</a:tableStyleId>
              </a:tblPr>
              <a:tblGrid>
                <a:gridCol w="960120"/>
                <a:gridCol w="822960"/>
                <a:gridCol w="1554480"/>
                <a:gridCol w="1783080"/>
                <a:gridCol w="1005840"/>
              </a:tblGrid>
              <a:tr h="426720">
                <a:tc>
                  <a:txBody>
                    <a:bodyPr wrap="none"/>
                    <a:lstStyle/>
                    <a:p>
                      <a:pPr algn="ctr"/>
                      <a:r>
                        <a:rPr sz="1200" b="1">
                          <a:solidFill>
                            <a:srgbClr val="00E5FF"/>
                          </a:solidFill>
                          <a:latin typeface="Malgun Gothic"/>
                        </a:rPr>
                        <a:t>연도</a:t>
                      </a:r>
                    </a:p>
                  </a:txBody>
                  <a:tcPr anchor="ctr">
                    <a:solidFill>
                      <a:srgbClr val="38507C"/>
                    </a:solidFill>
                  </a:tcPr>
                </a:tc>
                <a:tc>
                  <a:txBody>
                    <a:bodyPr wrap="none"/>
                    <a:lstStyle/>
                    <a:p>
                      <a:pPr algn="ctr"/>
                      <a:r>
                        <a:rPr sz="1200" b="1">
                          <a:solidFill>
                            <a:srgbClr val="00E5FF"/>
                          </a:solidFill>
                          <a:latin typeface="Malgun Gothic"/>
                        </a:rPr>
                        <a:t>사이클</a:t>
                      </a:r>
                    </a:p>
                  </a:txBody>
                  <a:tcPr anchor="ctr">
                    <a:solidFill>
                      <a:srgbClr val="38507C"/>
                    </a:solidFill>
                  </a:tcPr>
                </a:tc>
                <a:tc>
                  <a:txBody>
                    <a:bodyPr wrap="none"/>
                    <a:lstStyle/>
                    <a:p>
                      <a:pPr algn="ctr"/>
                      <a:r>
                        <a:rPr sz="1200" b="1">
                          <a:solidFill>
                            <a:srgbClr val="00E5FF"/>
                          </a:solidFill>
                          <a:latin typeface="Malgun Gothic"/>
                        </a:rPr>
                        <a:t>연간 수익률</a:t>
                      </a:r>
                    </a:p>
                  </a:txBody>
                  <a:tcPr anchor="ctr">
                    <a:solidFill>
                      <a:srgbClr val="38507C"/>
                    </a:solidFill>
                  </a:tcPr>
                </a:tc>
                <a:tc>
                  <a:txBody>
                    <a:bodyPr wrap="none"/>
                    <a:lstStyle/>
                    <a:p>
                      <a:pPr algn="ctr"/>
                      <a:r>
                        <a:rPr sz="1200" b="1">
                          <a:solidFill>
                            <a:srgbClr val="00E5FF"/>
                          </a:solidFill>
                          <a:latin typeface="Malgun Gothic"/>
                        </a:rPr>
                        <a:t>정산금액</a:t>
                      </a:r>
                    </a:p>
                  </a:txBody>
                  <a:tcPr anchor="ctr">
                    <a:solidFill>
                      <a:srgbClr val="38507C"/>
                    </a:solidFill>
                  </a:tcPr>
                </a:tc>
                <a:tc>
                  <a:txBody>
                    <a:bodyPr wrap="none"/>
                    <a:lstStyle/>
                    <a:p>
                      <a:pPr algn="ctr"/>
                      <a:r>
                        <a:rPr sz="1200" b="1">
                          <a:solidFill>
                            <a:srgbClr val="00E5FF"/>
                          </a:solidFill>
                          <a:latin typeface="Malgun Gothic"/>
                        </a:rPr>
                        <a:t>MDD</a:t>
                      </a:r>
                    </a:p>
                  </a:txBody>
                  <a:tcPr anchor="ctr">
                    <a:solidFill>
                      <a:srgbClr val="38507C"/>
                    </a:solidFill>
                  </a:tcPr>
                </a:tc>
              </a:tr>
              <a:tr h="426720">
                <a:tc>
                  <a:txBody>
                    <a:bodyPr wrap="none"/>
                    <a:lstStyle/>
                    <a:p>
                      <a:pPr algn="ctr"/>
                      <a:r>
                        <a:rPr sz="1200" b="0">
                          <a:solidFill>
                            <a:srgbClr val="F0F4FF"/>
                          </a:solidFill>
                          <a:latin typeface="Malgun Gothic"/>
                        </a:rPr>
                        <a:t>2021</a:t>
                      </a:r>
                    </a:p>
                  </a:txBody>
                  <a:tcPr anchor="ctr">
                    <a:solidFill>
                      <a:srgbClr val="2A3C64"/>
                    </a:solidFill>
                  </a:tcPr>
                </a:tc>
                <a:tc>
                  <a:txBody>
                    <a:bodyPr wrap="none"/>
                    <a:lstStyle/>
                    <a:p>
                      <a:pPr algn="ctr"/>
                      <a:r>
                        <a:rPr sz="1200" b="0">
                          <a:solidFill>
                            <a:srgbClr val="F0F4FF"/>
                          </a:solidFill>
                          <a:latin typeface="Malgun Gothic"/>
                        </a:rPr>
                        <a:t>12회</a:t>
                      </a:r>
                    </a:p>
                  </a:txBody>
                  <a:tcPr anchor="ctr">
                    <a:solidFill>
                      <a:srgbClr val="2A3C64"/>
                    </a:solidFill>
                  </a:tcPr>
                </a:tc>
                <a:tc>
                  <a:txBody>
                    <a:bodyPr wrap="none"/>
                    <a:lstStyle/>
                    <a:p>
                      <a:pPr algn="ctr"/>
                      <a:r>
                        <a:rPr sz="1200" b="1">
                          <a:solidFill>
                            <a:srgbClr val="00D48A"/>
                          </a:solidFill>
                          <a:latin typeface="Malgun Gothic"/>
                        </a:rPr>
                        <a:t>+66.04%</a:t>
                      </a:r>
                    </a:p>
                  </a:txBody>
                  <a:tcPr anchor="ctr">
                    <a:solidFill>
                      <a:srgbClr val="2A3C64"/>
                    </a:solidFill>
                  </a:tcPr>
                </a:tc>
                <a:tc>
                  <a:txBody>
                    <a:bodyPr wrap="none"/>
                    <a:lstStyle/>
                    <a:p>
                      <a:pPr algn="ctr"/>
                      <a:r>
                        <a:rPr sz="1200" b="0">
                          <a:solidFill>
                            <a:srgbClr val="F0F4FF"/>
                          </a:solidFill>
                          <a:latin typeface="Malgun Gothic"/>
                        </a:rPr>
                        <a:t>$166,036</a:t>
                      </a:r>
                    </a:p>
                  </a:txBody>
                  <a:tcPr anchor="ctr">
                    <a:solidFill>
                      <a:srgbClr val="2A3C64"/>
                    </a:solidFill>
                  </a:tcPr>
                </a:tc>
                <a:tc>
                  <a:txBody>
                    <a:bodyPr wrap="none"/>
                    <a:lstStyle/>
                    <a:p>
                      <a:pPr algn="ctr"/>
                      <a:r>
                        <a:rPr sz="1200" b="0">
                          <a:solidFill>
                            <a:srgbClr val="F0F4FF"/>
                          </a:solidFill>
                          <a:latin typeface="Malgun Gothic"/>
                        </a:rPr>
                        <a:t>-10.5%</a:t>
                      </a:r>
                    </a:p>
                  </a:txBody>
                  <a:tcPr anchor="ctr">
                    <a:solidFill>
                      <a:srgbClr val="2A3C64"/>
                    </a:solidFill>
                  </a:tcPr>
                </a:tc>
              </a:tr>
              <a:tr h="426720">
                <a:tc>
                  <a:txBody>
                    <a:bodyPr wrap="none"/>
                    <a:lstStyle/>
                    <a:p>
                      <a:pPr algn="ctr"/>
                      <a:r>
                        <a:rPr sz="1200" b="0">
                          <a:solidFill>
                            <a:srgbClr val="F0F4FF"/>
                          </a:solidFill>
                          <a:latin typeface="Malgun Gothic"/>
                        </a:rPr>
                        <a:t>2022</a:t>
                      </a:r>
                    </a:p>
                  </a:txBody>
                  <a:tcPr anchor="ctr">
                    <a:solidFill>
                      <a:srgbClr val="2A3C64"/>
                    </a:solidFill>
                  </a:tcPr>
                </a:tc>
                <a:tc>
                  <a:txBody>
                    <a:bodyPr wrap="none"/>
                    <a:lstStyle/>
                    <a:p>
                      <a:pPr algn="ctr"/>
                      <a:r>
                        <a:rPr sz="1200" b="0">
                          <a:solidFill>
                            <a:srgbClr val="F0F4FF"/>
                          </a:solidFill>
                          <a:latin typeface="Malgun Gothic"/>
                        </a:rPr>
                        <a:t>20회</a:t>
                      </a:r>
                    </a:p>
                  </a:txBody>
                  <a:tcPr anchor="ctr">
                    <a:solidFill>
                      <a:srgbClr val="2A3C64"/>
                    </a:solidFill>
                  </a:tcPr>
                </a:tc>
                <a:tc>
                  <a:txBody>
                    <a:bodyPr wrap="none"/>
                    <a:lstStyle/>
                    <a:p>
                      <a:pPr algn="ctr"/>
                      <a:r>
                        <a:rPr sz="1200" b="1">
                          <a:solidFill>
                            <a:srgbClr val="00D48A"/>
                          </a:solidFill>
                          <a:latin typeface="Malgun Gothic"/>
                        </a:rPr>
                        <a:t>+29.87%</a:t>
                      </a:r>
                    </a:p>
                  </a:txBody>
                  <a:tcPr anchor="ctr">
                    <a:solidFill>
                      <a:srgbClr val="2A3C64"/>
                    </a:solidFill>
                  </a:tcPr>
                </a:tc>
                <a:tc>
                  <a:txBody>
                    <a:bodyPr wrap="none"/>
                    <a:lstStyle/>
                    <a:p>
                      <a:pPr algn="ctr"/>
                      <a:r>
                        <a:rPr sz="1200" b="0">
                          <a:solidFill>
                            <a:srgbClr val="F0F4FF"/>
                          </a:solidFill>
                          <a:latin typeface="Malgun Gothic"/>
                        </a:rPr>
                        <a:t>$129,866</a:t>
                      </a:r>
                    </a:p>
                  </a:txBody>
                  <a:tcPr anchor="ctr">
                    <a:solidFill>
                      <a:srgbClr val="2A3C64"/>
                    </a:solidFill>
                  </a:tcPr>
                </a:tc>
                <a:tc>
                  <a:txBody>
                    <a:bodyPr wrap="none"/>
                    <a:lstStyle/>
                    <a:p>
                      <a:pPr algn="ctr"/>
                      <a:r>
                        <a:rPr sz="1200" b="0">
                          <a:solidFill>
                            <a:srgbClr val="F0F4FF"/>
                          </a:solidFill>
                          <a:latin typeface="Malgun Gothic"/>
                        </a:rPr>
                        <a:t>-36.7%</a:t>
                      </a:r>
                    </a:p>
                  </a:txBody>
                  <a:tcPr anchor="ctr">
                    <a:solidFill>
                      <a:srgbClr val="2A3C64"/>
                    </a:solidFill>
                  </a:tcPr>
                </a:tc>
              </a:tr>
              <a:tr h="426720">
                <a:tc>
                  <a:txBody>
                    <a:bodyPr wrap="none"/>
                    <a:lstStyle/>
                    <a:p>
                      <a:pPr algn="ctr"/>
                      <a:r>
                        <a:rPr sz="1200" b="0">
                          <a:solidFill>
                            <a:srgbClr val="F0F4FF"/>
                          </a:solidFill>
                          <a:latin typeface="Malgun Gothic"/>
                        </a:rPr>
                        <a:t>2023</a:t>
                      </a:r>
                    </a:p>
                  </a:txBody>
                  <a:tcPr anchor="ctr">
                    <a:solidFill>
                      <a:srgbClr val="2A3C64"/>
                    </a:solidFill>
                  </a:tcPr>
                </a:tc>
                <a:tc>
                  <a:txBody>
                    <a:bodyPr wrap="none"/>
                    <a:lstStyle/>
                    <a:p>
                      <a:pPr algn="ctr"/>
                      <a:r>
                        <a:rPr sz="1200" b="0">
                          <a:solidFill>
                            <a:srgbClr val="F0F4FF"/>
                          </a:solidFill>
                          <a:latin typeface="Malgun Gothic"/>
                        </a:rPr>
                        <a:t>12회</a:t>
                      </a:r>
                    </a:p>
                  </a:txBody>
                  <a:tcPr anchor="ctr">
                    <a:solidFill>
                      <a:srgbClr val="2A3C64"/>
                    </a:solidFill>
                  </a:tcPr>
                </a:tc>
                <a:tc>
                  <a:txBody>
                    <a:bodyPr wrap="none"/>
                    <a:lstStyle/>
                    <a:p>
                      <a:pPr algn="ctr"/>
                      <a:r>
                        <a:rPr sz="1200" b="1">
                          <a:solidFill>
                            <a:srgbClr val="00D48A"/>
                          </a:solidFill>
                          <a:latin typeface="Malgun Gothic"/>
                        </a:rPr>
                        <a:t>+74.87%</a:t>
                      </a:r>
                    </a:p>
                  </a:txBody>
                  <a:tcPr anchor="ctr">
                    <a:solidFill>
                      <a:srgbClr val="2A3C64"/>
                    </a:solidFill>
                  </a:tcPr>
                </a:tc>
                <a:tc>
                  <a:txBody>
                    <a:bodyPr wrap="none"/>
                    <a:lstStyle/>
                    <a:p>
                      <a:pPr algn="ctr"/>
                      <a:r>
                        <a:rPr sz="1200" b="0">
                          <a:solidFill>
                            <a:srgbClr val="F0F4FF"/>
                          </a:solidFill>
                          <a:latin typeface="Malgun Gothic"/>
                        </a:rPr>
                        <a:t>$174,869</a:t>
                      </a:r>
                    </a:p>
                  </a:txBody>
                  <a:tcPr anchor="ctr">
                    <a:solidFill>
                      <a:srgbClr val="2A3C64"/>
                    </a:solidFill>
                  </a:tcPr>
                </a:tc>
                <a:tc>
                  <a:txBody>
                    <a:bodyPr wrap="none"/>
                    <a:lstStyle/>
                    <a:p>
                      <a:pPr algn="ctr"/>
                      <a:r>
                        <a:rPr sz="1200" b="0">
                          <a:solidFill>
                            <a:srgbClr val="F0F4FF"/>
                          </a:solidFill>
                          <a:latin typeface="Malgun Gothic"/>
                        </a:rPr>
                        <a:t>-7.8%</a:t>
                      </a:r>
                    </a:p>
                  </a:txBody>
                  <a:tcPr anchor="ctr">
                    <a:solidFill>
                      <a:srgbClr val="2A3C64"/>
                    </a:solidFill>
                  </a:tcPr>
                </a:tc>
              </a:tr>
              <a:tr h="426720">
                <a:tc>
                  <a:txBody>
                    <a:bodyPr wrap="none"/>
                    <a:lstStyle/>
                    <a:p>
                      <a:pPr algn="ctr"/>
                      <a:r>
                        <a:rPr sz="1200" b="0">
                          <a:solidFill>
                            <a:srgbClr val="F0F4FF"/>
                          </a:solidFill>
                          <a:latin typeface="Malgun Gothic"/>
                        </a:rPr>
                        <a:t>2024</a:t>
                      </a:r>
                    </a:p>
                  </a:txBody>
                  <a:tcPr anchor="ctr">
                    <a:solidFill>
                      <a:srgbClr val="2A3C64"/>
                    </a:solidFill>
                  </a:tcPr>
                </a:tc>
                <a:tc>
                  <a:txBody>
                    <a:bodyPr wrap="none"/>
                    <a:lstStyle/>
                    <a:p>
                      <a:pPr algn="ctr"/>
                      <a:r>
                        <a:rPr sz="1200" b="0">
                          <a:solidFill>
                            <a:srgbClr val="F0F4FF"/>
                          </a:solidFill>
                          <a:latin typeface="Malgun Gothic"/>
                        </a:rPr>
                        <a:t>16회</a:t>
                      </a:r>
                    </a:p>
                  </a:txBody>
                  <a:tcPr anchor="ctr">
                    <a:solidFill>
                      <a:srgbClr val="2A3C64"/>
                    </a:solidFill>
                  </a:tcPr>
                </a:tc>
                <a:tc>
                  <a:txBody>
                    <a:bodyPr wrap="none"/>
                    <a:lstStyle/>
                    <a:p>
                      <a:pPr algn="ctr"/>
                      <a:r>
                        <a:rPr sz="1200" b="1">
                          <a:solidFill>
                            <a:srgbClr val="00D48A"/>
                          </a:solidFill>
                          <a:latin typeface="Malgun Gothic"/>
                        </a:rPr>
                        <a:t>+106.45%</a:t>
                      </a:r>
                    </a:p>
                  </a:txBody>
                  <a:tcPr anchor="ctr">
                    <a:solidFill>
                      <a:srgbClr val="2A3C64"/>
                    </a:solidFill>
                  </a:tcPr>
                </a:tc>
                <a:tc>
                  <a:txBody>
                    <a:bodyPr wrap="none"/>
                    <a:lstStyle/>
                    <a:p>
                      <a:pPr algn="ctr"/>
                      <a:r>
                        <a:rPr sz="1200" b="0">
                          <a:solidFill>
                            <a:srgbClr val="F0F4FF"/>
                          </a:solidFill>
                          <a:latin typeface="Malgun Gothic"/>
                        </a:rPr>
                        <a:t>$206,445</a:t>
                      </a:r>
                    </a:p>
                  </a:txBody>
                  <a:tcPr anchor="ctr">
                    <a:solidFill>
                      <a:srgbClr val="2A3C64"/>
                    </a:solidFill>
                  </a:tcPr>
                </a:tc>
                <a:tc>
                  <a:txBody>
                    <a:bodyPr wrap="none"/>
                    <a:lstStyle/>
                    <a:p>
                      <a:pPr algn="ctr"/>
                      <a:r>
                        <a:rPr sz="1200" b="0">
                          <a:solidFill>
                            <a:srgbClr val="F0F4FF"/>
                          </a:solidFill>
                          <a:latin typeface="Malgun Gothic"/>
                        </a:rPr>
                        <a:t>-7.9%</a:t>
                      </a:r>
                    </a:p>
                  </a:txBody>
                  <a:tcPr anchor="ctr">
                    <a:solidFill>
                      <a:srgbClr val="2A3C64"/>
                    </a:solidFill>
                  </a:tcPr>
                </a:tc>
              </a:tr>
              <a:tr h="426720">
                <a:tc>
                  <a:txBody>
                    <a:bodyPr wrap="none"/>
                    <a:lstStyle/>
                    <a:p>
                      <a:pPr algn="ctr"/>
                      <a:r>
                        <a:rPr sz="1200" b="0">
                          <a:solidFill>
                            <a:srgbClr val="F0F4FF"/>
                          </a:solidFill>
                          <a:latin typeface="Malgun Gothic"/>
                        </a:rPr>
                        <a:t>2025</a:t>
                      </a:r>
                    </a:p>
                  </a:txBody>
                  <a:tcPr anchor="ctr">
                    <a:solidFill>
                      <a:srgbClr val="2A3C64"/>
                    </a:solidFill>
                  </a:tcPr>
                </a:tc>
                <a:tc>
                  <a:txBody>
                    <a:bodyPr wrap="none"/>
                    <a:lstStyle/>
                    <a:p>
                      <a:pPr algn="ctr"/>
                      <a:r>
                        <a:rPr sz="1200" b="0">
                          <a:solidFill>
                            <a:srgbClr val="F0F4FF"/>
                          </a:solidFill>
                          <a:latin typeface="Malgun Gothic"/>
                        </a:rPr>
                        <a:t>13회</a:t>
                      </a:r>
                    </a:p>
                  </a:txBody>
                  <a:tcPr anchor="ctr">
                    <a:solidFill>
                      <a:srgbClr val="2A3C64"/>
                    </a:solidFill>
                  </a:tcPr>
                </a:tc>
                <a:tc>
                  <a:txBody>
                    <a:bodyPr wrap="none"/>
                    <a:lstStyle/>
                    <a:p>
                      <a:pPr algn="ctr"/>
                      <a:r>
                        <a:rPr sz="1200" b="1">
                          <a:solidFill>
                            <a:srgbClr val="00D48A"/>
                          </a:solidFill>
                          <a:latin typeface="Malgun Gothic"/>
                        </a:rPr>
                        <a:t>+36.42%</a:t>
                      </a:r>
                    </a:p>
                  </a:txBody>
                  <a:tcPr anchor="ctr">
                    <a:solidFill>
                      <a:srgbClr val="2A3C64"/>
                    </a:solidFill>
                  </a:tcPr>
                </a:tc>
                <a:tc>
                  <a:txBody>
                    <a:bodyPr wrap="none"/>
                    <a:lstStyle/>
                    <a:p>
                      <a:pPr algn="ctr"/>
                      <a:r>
                        <a:rPr sz="1200" b="0">
                          <a:solidFill>
                            <a:srgbClr val="F0F4FF"/>
                          </a:solidFill>
                          <a:latin typeface="Malgun Gothic"/>
                        </a:rPr>
                        <a:t>$136,423</a:t>
                      </a:r>
                    </a:p>
                  </a:txBody>
                  <a:tcPr anchor="ctr">
                    <a:solidFill>
                      <a:srgbClr val="2A3C64"/>
                    </a:solidFill>
                  </a:tcPr>
                </a:tc>
                <a:tc>
                  <a:txBody>
                    <a:bodyPr wrap="none"/>
                    <a:lstStyle/>
                    <a:p>
                      <a:pPr algn="ctr"/>
                      <a:r>
                        <a:rPr sz="1200" b="0">
                          <a:solidFill>
                            <a:srgbClr val="F0F4FF"/>
                          </a:solidFill>
                          <a:latin typeface="Malgun Gothic"/>
                        </a:rPr>
                        <a:t>-24.5%</a:t>
                      </a:r>
                    </a:p>
                  </a:txBody>
                  <a:tcPr anchor="ctr">
                    <a:solidFill>
                      <a:srgbClr val="2A3C64"/>
                    </a:solidFill>
                  </a:tcPr>
                </a:tc>
              </a:tr>
            </a:tbl>
          </a:graphicData>
        </a:graphic>
      </p:graphicFrame>
      <p:sp>
        <p:nvSpPr>
          <p:cNvPr id="29" name="TextBox 28"/>
          <p:cNvSpPr txBox="1"/>
          <p:nvPr/>
        </p:nvSpPr>
        <p:spPr>
          <a:xfrm>
            <a:off x="457200" y="6464808"/>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502920"/>
          </a:xfrm>
          <a:prstGeom prst="rect">
            <a:avLst/>
          </a:prstGeom>
          <a:noFill/>
        </p:spPr>
        <p:txBody>
          <a:bodyPr wrap="square">
            <a:spAutoFit/>
          </a:bodyPr>
          <a:lstStyle/>
          <a:p>
            <a:pPr algn="l"/>
            <a:r>
              <a:rPr sz="2200" b="1" i="0">
                <a:solidFill>
                  <a:srgbClr val="F0F4FF"/>
                </a:solidFill>
                <a:latin typeface="Malgun Gothic"/>
              </a:rPr>
              <a:t>TQQQ  최근 12개월  백테스트 차트</a:t>
            </a:r>
          </a:p>
        </p:txBody>
      </p:sp>
      <p:pic>
        <p:nvPicPr>
          <p:cNvPr id="4" name="Picture 3" descr="image.png"/>
          <p:cNvPicPr>
            <a:picLocks noChangeAspect="1"/>
          </p:cNvPicPr>
          <p:nvPr/>
        </p:nvPicPr>
        <p:blipFill>
          <a:blip r:embed="rId2"/>
          <a:stretch>
            <a:fillRect/>
          </a:stretch>
        </p:blipFill>
        <p:spPr>
          <a:xfrm>
            <a:off x="182880" y="658368"/>
            <a:ext cx="11823192" cy="5833872"/>
          </a:xfrm>
          <a:prstGeom prst="rect">
            <a:avLst/>
          </a:prstGeom>
        </p:spPr>
      </p:pic>
      <p:sp>
        <p:nvSpPr>
          <p:cNvPr id="5" name="TextBox 4"/>
          <p:cNvSpPr txBox="1"/>
          <p:nvPr/>
        </p:nvSpPr>
        <p:spPr>
          <a:xfrm>
            <a:off x="365760" y="6510528"/>
            <a:ext cx="11457432" cy="292608"/>
          </a:xfrm>
          <a:prstGeom prst="rect">
            <a:avLst/>
          </a:prstGeom>
          <a:noFill/>
        </p:spPr>
        <p:txBody>
          <a:bodyPr wrap="square">
            <a:spAutoFit/>
          </a:bodyPr>
          <a:lstStyle/>
          <a:p>
            <a:pPr algn="r"/>
            <a:r>
              <a:rPr sz="1000" b="0" i="0">
                <a:solidFill>
                  <a:srgbClr val="889EBC"/>
                </a:solidFill>
                <a:latin typeface="Malgun Gothic"/>
              </a:rPr>
              <a:t>※ 자산가치: 누적 복리 ($100K 시작, 연도 리셋 없음) · 수수료/세금 미포함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ctr"/>
            <a:r>
              <a:rPr sz="3000" b="1" i="0">
                <a:solidFill>
                  <a:srgbClr val="FFD700"/>
                </a:solidFill>
                <a:latin typeface="Malgun Gothic"/>
              </a:rPr>
              <a:t>⚠  투자 면책 고지  /  Disclaimer</a:t>
            </a:r>
          </a:p>
        </p:txBody>
      </p:sp>
      <p:sp>
        <p:nvSpPr>
          <p:cNvPr id="5" name="Rectangle 4"/>
          <p:cNvSpPr/>
          <p:nvPr/>
        </p:nvSpPr>
        <p:spPr>
          <a:xfrm>
            <a:off x="365760" y="868680"/>
            <a:ext cx="11457432" cy="1905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05840"/>
            <a:ext cx="10332720" cy="384048"/>
          </a:xfrm>
          <a:prstGeom prst="rect">
            <a:avLst/>
          </a:prstGeom>
          <a:noFill/>
        </p:spPr>
        <p:txBody>
          <a:bodyPr wrap="square">
            <a:spAutoFit/>
          </a:bodyPr>
          <a:lstStyle/>
          <a:p>
            <a:pPr algn="l"/>
            <a:r>
              <a:rPr sz="1400" b="0" i="0">
                <a:solidFill>
                  <a:srgbClr val="C0CAE0"/>
                </a:solidFill>
                <a:latin typeface="Malgun Gothic"/>
              </a:rPr>
              <a:t>본 유튜브 채널 및 관련 자료는 오직 교육 및 정보 제공 목적으로만 제작되었습니다.</a:t>
            </a:r>
          </a:p>
        </p:txBody>
      </p:sp>
      <p:sp>
        <p:nvSpPr>
          <p:cNvPr id="7" name="TextBox 6"/>
          <p:cNvSpPr txBox="1"/>
          <p:nvPr/>
        </p:nvSpPr>
        <p:spPr>
          <a:xfrm>
            <a:off x="914400" y="1517904"/>
            <a:ext cx="10332720" cy="384048"/>
          </a:xfrm>
          <a:prstGeom prst="rect">
            <a:avLst/>
          </a:prstGeom>
          <a:noFill/>
        </p:spPr>
        <p:txBody>
          <a:bodyPr wrap="square">
            <a:spAutoFit/>
          </a:bodyPr>
          <a:lstStyle/>
          <a:p>
            <a:pPr algn="l"/>
            <a:r>
              <a:rPr sz="1400" b="0" i="0">
                <a:solidFill>
                  <a:srgbClr val="C0CAE0"/>
                </a:solidFill>
                <a:latin typeface="Malgun Gothic"/>
              </a:rPr>
              <a:t>이 콘텐츠는 투자 권유, 투자 자문, 또는 특정 금융상품의 매수·매도를 권고하는 것이 아닙니다.</a:t>
            </a:r>
          </a:p>
        </p:txBody>
      </p:sp>
      <p:sp>
        <p:nvSpPr>
          <p:cNvPr id="8" name="TextBox 7"/>
          <p:cNvSpPr txBox="1"/>
          <p:nvPr/>
        </p:nvSpPr>
        <p:spPr>
          <a:xfrm>
            <a:off x="914400" y="1865376"/>
            <a:ext cx="10332720" cy="384048"/>
          </a:xfrm>
          <a:prstGeom prst="rect">
            <a:avLst/>
          </a:prstGeom>
          <a:noFill/>
        </p:spPr>
        <p:txBody>
          <a:bodyPr wrap="square">
            <a:spAutoFit/>
          </a:bodyPr>
          <a:lstStyle/>
          <a:p>
            <a:pPr algn="l"/>
            <a:r>
              <a:rPr sz="1400" b="0" i="0">
                <a:solidFill>
                  <a:srgbClr val="C0CAE0"/>
                </a:solidFill>
                <a:latin typeface="Malgun Gothic"/>
              </a:rPr>
              <a:t>모든 투자 결정은 시청자 본인의 판단과 책임 하에 이루어져야 하며,</a:t>
            </a:r>
          </a:p>
        </p:txBody>
      </p:sp>
      <p:sp>
        <p:nvSpPr>
          <p:cNvPr id="9" name="TextBox 8"/>
          <p:cNvSpPr txBox="1"/>
          <p:nvPr/>
        </p:nvSpPr>
        <p:spPr>
          <a:xfrm>
            <a:off x="914400" y="2212848"/>
            <a:ext cx="10332720" cy="384048"/>
          </a:xfrm>
          <a:prstGeom prst="rect">
            <a:avLst/>
          </a:prstGeom>
          <a:noFill/>
        </p:spPr>
        <p:txBody>
          <a:bodyPr wrap="square">
            <a:spAutoFit/>
          </a:bodyPr>
          <a:lstStyle/>
          <a:p>
            <a:pPr algn="l"/>
            <a:r>
              <a:rPr sz="1400" b="0" i="0">
                <a:solidFill>
                  <a:srgbClr val="C0CAE0"/>
                </a:solidFill>
                <a:latin typeface="Malgun Gothic"/>
              </a:rPr>
              <a:t>과거의 수익률이 미래의 수익률을 보장하지 않습니다.</a:t>
            </a:r>
          </a:p>
        </p:txBody>
      </p:sp>
      <p:sp>
        <p:nvSpPr>
          <p:cNvPr id="10" name="TextBox 9"/>
          <p:cNvSpPr txBox="1"/>
          <p:nvPr/>
        </p:nvSpPr>
        <p:spPr>
          <a:xfrm>
            <a:off x="914400" y="2724912"/>
            <a:ext cx="10332720" cy="384048"/>
          </a:xfrm>
          <a:prstGeom prst="rect">
            <a:avLst/>
          </a:prstGeom>
          <a:noFill/>
        </p:spPr>
        <p:txBody>
          <a:bodyPr wrap="square">
            <a:spAutoFit/>
          </a:bodyPr>
          <a:lstStyle/>
          <a:p>
            <a:pPr algn="l"/>
            <a:r>
              <a:rPr sz="1400" b="0" i="0">
                <a:solidFill>
                  <a:srgbClr val="C0CAE0"/>
                </a:solidFill>
                <a:latin typeface="Malgun Gothic"/>
              </a:rPr>
              <a:t>RSI(2) 전략은 레버리지 ETF(TQQQ, SOXL 등)를 포함하며,</a:t>
            </a:r>
          </a:p>
        </p:txBody>
      </p:sp>
      <p:sp>
        <p:nvSpPr>
          <p:cNvPr id="11" name="TextBox 10"/>
          <p:cNvSpPr txBox="1"/>
          <p:nvPr/>
        </p:nvSpPr>
        <p:spPr>
          <a:xfrm>
            <a:off x="914400" y="3072384"/>
            <a:ext cx="10332720" cy="384048"/>
          </a:xfrm>
          <a:prstGeom prst="rect">
            <a:avLst/>
          </a:prstGeom>
          <a:noFill/>
        </p:spPr>
        <p:txBody>
          <a:bodyPr wrap="square">
            <a:spAutoFit/>
          </a:bodyPr>
          <a:lstStyle/>
          <a:p>
            <a:pPr algn="l"/>
            <a:r>
              <a:rPr sz="1400" b="0" i="0">
                <a:solidFill>
                  <a:srgbClr val="C0CAE0"/>
                </a:solidFill>
                <a:latin typeface="Malgun Gothic"/>
              </a:rPr>
              <a:t>레버리지 ETF는 단기 변동성이 매우 크고 장기 보유 시 자산 감소 위험이 있습니다.</a:t>
            </a:r>
          </a:p>
        </p:txBody>
      </p:sp>
      <p:sp>
        <p:nvSpPr>
          <p:cNvPr id="12" name="TextBox 11"/>
          <p:cNvSpPr txBox="1"/>
          <p:nvPr/>
        </p:nvSpPr>
        <p:spPr>
          <a:xfrm>
            <a:off x="914400" y="3419856"/>
            <a:ext cx="10332720" cy="384048"/>
          </a:xfrm>
          <a:prstGeom prst="rect">
            <a:avLst/>
          </a:prstGeom>
          <a:noFill/>
        </p:spPr>
        <p:txBody>
          <a:bodyPr wrap="square">
            <a:spAutoFit/>
          </a:bodyPr>
          <a:lstStyle/>
          <a:p>
            <a:pPr algn="l"/>
            <a:r>
              <a:rPr sz="1400" b="0" i="0">
                <a:solidFill>
                  <a:srgbClr val="C0CAE0"/>
                </a:solidFill>
                <a:latin typeface="Malgun Gothic"/>
              </a:rPr>
              <a:t>투자 전 반드시 해당 상품의 투자설명서와 위험 고지를 숙지하시기 바랍니다.</a:t>
            </a:r>
          </a:p>
        </p:txBody>
      </p:sp>
      <p:sp>
        <p:nvSpPr>
          <p:cNvPr id="13" name="TextBox 12"/>
          <p:cNvSpPr txBox="1"/>
          <p:nvPr/>
        </p:nvSpPr>
        <p:spPr>
          <a:xfrm>
            <a:off x="914400" y="3931920"/>
            <a:ext cx="10332720" cy="384048"/>
          </a:xfrm>
          <a:prstGeom prst="rect">
            <a:avLst/>
          </a:prstGeom>
          <a:noFill/>
        </p:spPr>
        <p:txBody>
          <a:bodyPr wrap="square">
            <a:spAutoFit/>
          </a:bodyPr>
          <a:lstStyle/>
          <a:p>
            <a:pPr algn="l"/>
            <a:r>
              <a:rPr sz="1400" b="0" i="0">
                <a:solidFill>
                  <a:srgbClr val="C0CAE0"/>
                </a:solidFill>
                <a:latin typeface="Malgun Gothic"/>
              </a:rPr>
              <a:t>본 채널은 투자자문업 등록 없이 운영되며, 유료 투자 신호 서비스를 제공하지 않습니다.</a:t>
            </a:r>
          </a:p>
        </p:txBody>
      </p:sp>
      <p:sp>
        <p:nvSpPr>
          <p:cNvPr id="14" name="TextBox 13"/>
          <p:cNvSpPr txBox="1"/>
          <p:nvPr/>
        </p:nvSpPr>
        <p:spPr>
          <a:xfrm>
            <a:off x="914400" y="4279392"/>
            <a:ext cx="10332720" cy="384048"/>
          </a:xfrm>
          <a:prstGeom prst="rect">
            <a:avLst/>
          </a:prstGeom>
          <a:noFill/>
        </p:spPr>
        <p:txBody>
          <a:bodyPr wrap="square">
            <a:spAutoFit/>
          </a:bodyPr>
          <a:lstStyle/>
          <a:p>
            <a:pPr algn="l"/>
            <a:r>
              <a:rPr sz="1400" b="0" i="0">
                <a:solidFill>
                  <a:srgbClr val="C0CAE0"/>
                </a:solidFill>
                <a:latin typeface="Malgun Gothic"/>
              </a:rPr>
              <a:t>콘텐츠에 포함된 알고리즘 백테스트 결과는 수수료, 세금, 슬리피지를 일부 반영하나</a:t>
            </a:r>
          </a:p>
        </p:txBody>
      </p:sp>
      <p:sp>
        <p:nvSpPr>
          <p:cNvPr id="15" name="TextBox 14"/>
          <p:cNvSpPr txBox="1"/>
          <p:nvPr/>
        </p:nvSpPr>
        <p:spPr>
          <a:xfrm>
            <a:off x="914400" y="4626864"/>
            <a:ext cx="10332720" cy="384048"/>
          </a:xfrm>
          <a:prstGeom prst="rect">
            <a:avLst/>
          </a:prstGeom>
          <a:noFill/>
        </p:spPr>
        <p:txBody>
          <a:bodyPr wrap="square">
            <a:spAutoFit/>
          </a:bodyPr>
          <a:lstStyle/>
          <a:p>
            <a:pPr algn="l"/>
            <a:r>
              <a:rPr sz="1400" b="0" i="0">
                <a:solidFill>
                  <a:srgbClr val="C0CAE0"/>
                </a:solidFill>
                <a:latin typeface="Malgun Gothic"/>
              </a:rPr>
              <a:t>실제 투자 결과와 다를 수 있습니다.</a:t>
            </a:r>
          </a:p>
        </p:txBody>
      </p:sp>
      <p:sp>
        <p:nvSpPr>
          <p:cNvPr id="16" name="TextBox 15"/>
          <p:cNvSpPr txBox="1"/>
          <p:nvPr/>
        </p:nvSpPr>
        <p:spPr>
          <a:xfrm>
            <a:off x="914400" y="5138928"/>
            <a:ext cx="10332720" cy="384048"/>
          </a:xfrm>
          <a:prstGeom prst="rect">
            <a:avLst/>
          </a:prstGeom>
          <a:noFill/>
        </p:spPr>
        <p:txBody>
          <a:bodyPr wrap="square">
            <a:spAutoFit/>
          </a:bodyPr>
          <a:lstStyle/>
          <a:p>
            <a:pPr algn="l"/>
            <a:r>
              <a:rPr sz="1400" b="0" i="0">
                <a:solidFill>
                  <a:srgbClr val="C0CAE0"/>
                </a:solidFill>
                <a:latin typeface="Malgun Gothic"/>
              </a:rPr>
              <a:t>BATA Channel  ·  RSI(2) + Fear &amp; Greed Algorithm  ·  For Educational Use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