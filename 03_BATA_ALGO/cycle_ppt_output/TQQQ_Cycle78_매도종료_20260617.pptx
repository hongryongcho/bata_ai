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38912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TQQQ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4FF"/>
                </a:solidFill>
                <a:latin typeface="Malgun Gothic"/>
              </a:rPr>
              <a:t>매도종료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Malgun Gothic"/>
              </a:rPr>
              <a:t>Cycle #78  ·  26-5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F4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AE0"/>
                </a:solidFill>
                <a:latin typeface="Malgun Gothic"/>
              </a:rPr>
              <a:t>매수: 2026-06-05  →  매도: 2026-06-15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4FF"/>
                </a:solidFill>
                <a:latin typeface="Malgun Gothic"/>
              </a:rPr>
              <a:t>이 사이클  +15.80%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EBC"/>
                </a:solidFill>
                <a:latin typeface="Malgun Gothic"/>
              </a:rPr>
              <a:t>보유기간  10일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55680" cy="13716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8A"/>
                </a:solidFill>
                <a:latin typeface="Malgun Gothic"/>
              </a:rPr>
              <a:t>2026년 누적 수익률  +14.37%  ($100,000 → $114,371)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9EBC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[TQQQ  26-5  /  Cycle #78]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+15.80%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10일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$73.05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$84.59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투입금액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$98,766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정산금액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$114,371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+$15,605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2.39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91.28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≥ 75.0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Malgun Gothic"/>
              </a:rPr>
              <a:t>※ 소수점(분수) 거래 기준 — 잔고 전액 투입 가능  |  증권사 수수료 및 세금 미포함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#78]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2026-05-28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$83.68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+2.46%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94.69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$74.58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2026-05-29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$84.56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+1.05%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96.47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$74.44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$86.04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+1.75%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98.34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$77.45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$87.22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+1.37%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99.10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$78.29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$86.56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-0.76%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65.52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$80.0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$85.22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-1.55%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27.57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$83.28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$84.25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$74.04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2026-06-05  매수 체결  |  종가 $73.05  |  RSI(2) 2.39  |  F&amp;G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#78]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보유 7거래일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2026-06-09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$73.72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-3.34%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22.55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$69.27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-6.04%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10.31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$76.01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+9.73%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66.09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2026-06-12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$77.52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+1.99%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73.48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60579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+9.12%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91.28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#78]  매도 신호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신호 조건:  RSI(2) ≥ 75.0  (전일 종가 역산 LOC 기준가 이상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$87.41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BUY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$92.4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2026-06-09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$73.72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-3.34%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22.55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$84.34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$69.27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-6.04%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10.31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$81.58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$76.01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+9.73%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66.09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$79.87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$77.52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+1.99%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73.48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$77.94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+9.12%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91.28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$77.73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2026-06-16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$79.93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-5.51%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48.43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$83.45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6D"/>
                </a:solidFill>
                <a:latin typeface="Malgun Gothic"/>
              </a:rPr>
              <a:t>✅ 2026-06-15  매도 체결  |  종가 $84.59  |  RSI(2) 91.28  |  F&amp;G 34  |  수익률 +15.80%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TQQQ  사이클 요약  —  2026년 사이클 전체 (5건)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96112"/>
          <a:ext cx="9601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43000"/>
                <a:gridCol w="1005840"/>
                <a:gridCol w="1417320"/>
                <a:gridCol w="1143000"/>
                <a:gridCol w="1005840"/>
                <a:gridCol w="777240"/>
                <a:gridCol w="960120"/>
                <a:gridCol w="1417320"/>
              </a:tblGrid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RSI/F&amp;G (매수)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보유(일)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11.83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$54.29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+1.02%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$101,020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$53.91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13.66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2026-02-20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$49.98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-7.30%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$93,646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2026-03-03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$48.02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12.35  /  F&amp;G 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2026-04-08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$48.00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-0.04%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$72.93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12.7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$76.95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+5.51%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$98,766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48056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2.39  /  F&amp;G 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+15.80%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$114,371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EBC"/>
                </a:solidFill>
                <a:latin typeface="Malgun Gothic"/>
              </a:rPr>
              <a:t>※ 정산금액: 해당 연도 $100,000 기준 복리 누적 · 소수점 거래 · 수수료/세금 미포함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지표 설명  &amp;  연도별 수익률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1440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Malgun Gothic"/>
              </a:rPr>
              <a:t>RSI(2)  —  Relative Strength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2일 종가 변화를 Wilder 지수평활(α=0.5)해 0~100으로 환산.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신호 ≤ 15.0  (과매도)   /   매도 신호 ≥ 75.0  (과매수)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평균상승 = 0.5 × max(오늘-어제, 0) + 0.5 × 전일 평균상승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평균하락 = 0.5 × max(어제-오늘, 0) + 0.5 × 전일 평균하락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Malgun Gothic"/>
              </a:rPr>
              <a:t>RSI(2) = 100 − 100 ÷ (1 + 평균상승 ÷ 평균하락)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algun Gothic"/>
              </a:rPr>
              <a:t>F&amp;G  —  CNN Fear &amp; Greed Index  (0~100)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CNN이 7가지 시장 데이터를 매일 집계해 0(공포)~100(탐욕)으로 수치화.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보류 ≥ 75 (탐욕)   /   매도 보류 ≤ 25 (공포)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① 모멘텀(S&amp;P500/125일MA)  ② 주가강도(52주 고저)  ③ 거래량추세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④ 풋/콜 비율  ⑤ VIX 변동성  ⑥ 안전자산 수요  ⑦ 정크본드 수요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Malgun Gothic"/>
              </a:rPr>
              <a:t>→ 7가지 지표를 동일 가중 평균해 0~100 단일 지수로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3776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Malgun Gothic"/>
              </a:rPr>
              <a:t>MDD  —  Maximum Drawdown  (최대 낙폭)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0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투자 기간 내 최고 자산 대비 최대 손실률 (낮을수록 전략 안정).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05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연도별: 매년 $100,000 재시작 → 사이클 정산마다 자산값 추적.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MDD(%) = (최고정산자산 − 현재정산자산) ÷ 최고정산자산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35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최고점: 연도 시작~현재까지 매 사이클 정산 후 누적 최댓값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Malgun Gothic"/>
              </a:rPr>
              <a:t>→ 일중 최저값 아닌 사이클 단위 정산 기준으로 낙폭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822960"/>
            <a:ext cx="22860" cy="54864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8229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연도별 수익률  (연 $100,000 기준 · 소수점 거래 · 수수료/세금 미포함)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234440"/>
          <a:ext cx="6126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22960"/>
                <a:gridCol w="1554480"/>
                <a:gridCol w="1783080"/>
                <a:gridCol w="1005840"/>
              </a:tblGrid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연간 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12회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+66.04%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$166,036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-10.5%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+29.87%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$129,866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-36.7%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12회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+74.87%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$174,869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16회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+106.45%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$206,445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13회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+36.42%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$136,423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-24.5%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64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Malgun Gothic"/>
              </a:rPr>
              <a:t>TQQQ  최근 12개월  백테스트 차트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11823192" cy="583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10528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EBC"/>
                </a:solidFill>
                <a:latin typeface="Malgun Gothic"/>
              </a:rPr>
              <a:t>※ 자산가치: 누적 복리 ($100K 시작, 연도 리셋 없음) · 수수료/세금 미포함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