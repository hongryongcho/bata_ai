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BATA 채널입니다. 본 영상은 BATAGOTA 알고리즘 교육 목적으로 제작되었으며, 투자 권유가 아닙니다.</a:t>
            </a:r>
          </a:p>
          <a:p/>
          <a:p>
            <a:r>
              <a:t>오늘은 TQQQ 매수 신호 발생 보고서를 안내합니다. 화면의 사이클 번호는 몇 번째 매매 사이클인지를 나타내고, YTD 수익률은 이전 사이클까지의 올해 백테스트 누적 성과입니다.</a:t>
            </a:r>
          </a:p>
          <a:p/>
          <a:p>
            <a:r>
              <a:t>BATAGOTA 알고리즘은 RSI 2일과 CNN 공포탐욕지수를 결합한 단기 과매도 역추세 전략입니다. 장 마감 후 15분 뒤 종가가 확정되면 이 보고서가 자동으로 발행됩니다.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이번 사이클의 핵심 지표 요약입니다.</a:t>
            </a:r>
          </a:p>
          <a:p/>
          <a:p>
            <a:r>
              <a:t>상단 4개 박스에서 수익률, 보유기간, 매수가를 확인합니다. 매도가와 정산금액은 아직 진행 중이라 확정되지 않았습니다.</a:t>
            </a:r>
          </a:p>
          <a:p/>
          <a:p>
            <a:r>
              <a:t>하단에서 매수 시점의 RSI 2일 값과 CNN 공포탐욕지수를 확인할 수 있습니다. TQQQ는 RSI 15 이하, SOXL은 RSI 15 이하에서 매수 신호가 발생하며, 공포탐욕지수 75 이상 탐욕 구간에서는 매수를 보류합니다. 정산금액은 연초 10만 달러 복리 시뮬레이션이며 수수료와 세금은 미포함입니다.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 신호 발생 전후 7거래일 데이터입니다.</a:t>
            </a:r>
          </a:p>
          <a:p/>
          <a:p>
            <a:r>
              <a:t>초록색으로 강조된 행이 실제 매수 신호 발생일입니다. RSI 2일 값이 임계값 이하로 내려온 것을 확인할 수 있습니다. 매매 기준가는 전일 종가를 기준으로 역산한 LOC 지정가입니다.</a:t>
            </a:r>
          </a:p>
          <a:p/>
          <a:p>
            <a:r>
              <a:t>LOC는 Limit on Close의 약자로, 장 마감 직전 지정가 주문을 통해 종가에 최대한 가깝게 체결하는 방식입니다. 액션 컬럼에 F&amp;G 차단이 표시된 날은 공포탐욕지수 필터로 신호가 보류된 것입니다. 보류가 해제되고 RSI 조건이 충족된 시점에 매수가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매수일부터 매도일까지 보유 기간 전체의 일별 데이터입니다.</a:t>
            </a:r>
          </a:p>
          <a:p/>
          <a:p>
            <a:r>
              <a:t>각 거래일의 종가, RSI 2일, CNN 공포탐욕지수 변화를 추적할 수 있습니다. 보유 기간이 18거래일을 초과하면 중간 구간은 요약 처리됩니다.</a:t>
            </a:r>
          </a:p>
          <a:p/>
          <a:p>
            <a:r>
              <a:t>초록색 BUY 행은 매수일, 빨간색 SELL 행은 매도 신호 발생일입니다. 차단 컬럼에 내용이 있으면 그날 공포탐욕지수 필터로 신호가 보류된 것입니다. RSI가 매도 임계값에 도달할 때까지 포지션을 유지하는 전체 과정을 확인할 수 있습니다. 매수 후에는 RSI 매도 임계값 도달 예상 가격을 미리 계산해 LOC 매도 주문을 설정해 두는 것이 권장됩니다.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올해 전체 또는 최근 사이클 결과 요약입니다.</a:t>
            </a:r>
          </a:p>
          <a:p/>
          <a:p>
            <a:r>
              <a:t>각 사이클의 매수일, 매수가, 매수 시 RSI와 공포탐욕지수, 매도일, 보유기간, 수익률을 한 테이블에서 확인합니다. 초록색은 수익, 빨간색은 손실 사이클입니다.</a:t>
            </a:r>
          </a:p>
          <a:p/>
          <a:p>
            <a:r>
              <a:t>정산금액은 연초 10만 달러에서 각 사이클 수익률을 복리 누적 적용한 가상 시뮬레이션 결과입니다. 여러 사이클을 통해 알고리즘이 시장의 과매도 구간을 어떻게 반복 포착하는지 패턴을 확인할 수 있습니다. 소수점 거래 기준이며 수수료와 세금은 포함되지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BATAGOTA 알고리즘의 핵심 지표 3가지와 연도별 백테스트 수익률입니다.</a:t>
            </a:r>
          </a:p>
          <a:p/>
          <a:p>
            <a:r>
              <a:t>첫째, RSI 2일은 2일 종가 변화를 Wilder 지수평활법으로 0에서 100으로 환산한 단기 과매도 지표입니다. 15 이하이면 극도의 과매도, 75 이상이면 과매수 상태로 매매 신호가 발생합니다.</a:t>
            </a:r>
          </a:p>
          <a:p/>
          <a:p>
            <a:r>
              <a:t>둘째, CNN 공포탐욕지수는 시장 모멘텀, 주가강도, VIX 변동성 등 7가지 지표를 종합해 0에서 100으로 시장 심리를 수치화합니다. 단순 RSI만 사용하면 탐욕 구간에서 오신호가 발생할 수 있어 이 필터를 추가했습니다.</a:t>
            </a:r>
          </a:p>
          <a:p/>
          <a:p>
            <a:r>
              <a:t>셋째, MDD 최대낙폭은 투자 기간 중 최고 자산 대비 최대 손실률입니다. 낮을수록 전략이 안정적이며, 이 알고리즘의 핵심 강점 중 하나입니다.</a:t>
            </a:r>
          </a:p>
          <a:p/>
          <a:p>
            <a:r>
              <a:t>오른쪽 테이블에서 연도별 사이클 횟수, 연간 수익률, MDD를 확인할 수 있습니다. 단순 Buy&amp;Hold 전략 대비 이 알고리즘은 하락 구간을 현금으로 피하며 MDD를 낮추는 것이 핵심 강점입니다.</a:t>
            </a:r>
          </a:p>
          <a:p/>
          <a:p>
            <a:r>
              <a:t>향후 실전 운용 시 할 일: 매수 신호 발생 후 RSI 매도 임계값 도달 예상 가격을 계산해 LOC 매도 주문을 미리 설정합니다. 매도 완료 후에는 다음 매수 RSI 임계값 도달 가격을 모니터링해 LOC 매수를 준비합니다.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최근 12개월 백테스트 차트입니다.</a:t>
            </a:r>
          </a:p>
          <a:p/>
          <a:p>
            <a:r>
              <a:t>파란 선은 TQQQ 실제 주가 움직임, 금색 선은 알고리즘 적용 시 누적 자산가치입니다. 초록 음영은 수익 보유 구간, 빨간 음영은 손실 보유 구간입니다.</a:t>
            </a:r>
          </a:p>
          <a:p/>
          <a:p>
            <a:r>
              <a:t>주가가 크게 하락하는 구간에서 알고리즘이 현금을 보유해 손실을 줄이고, 반등 초기 과매도 구간에서 재진입하는 패턴이 이 전략의 핵심입니다. 이 차트는 수수료와 세금 미포함 기준이며 참고용 시뮬레이션입니다.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중요한 안내입니다.</a:t>
            </a:r>
          </a:p>
          <a:p/>
          <a:p>
            <a:r>
              <a:t>본 영상과 자료는 BATAGOTA 알고리즘 교육 목적으로만 제작되었습니다. 투자 권유나 투자 자문이 아닙니다. 레버리지 ETF인 TQQQ와 SOXL은 단기 변동성이 매우 크며 장기 보유 시 자산이 감소할 수 있습니다. 과거 백테스트 결과가 미래 수익을 보장하지 않으며, 모든 투자 결정은 본인 판단과 책임 하에 이루어져야 합니다.</a:t>
            </a:r>
          </a:p>
          <a:p/>
          <a:p>
            <a:r>
              <a:t>시청해 주셔서 감사합니다. BATA 채널이었습니다.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38912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TQQQ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4FF"/>
                </a:solidFill>
                <a:latin typeface="Malgun Gothic"/>
              </a:rPr>
              <a:t>매수시작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Malgun Gothic"/>
              </a:rPr>
              <a:t>Cycle #79  ·  26-6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F4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AE0"/>
                </a:solidFill>
                <a:latin typeface="Malgun Gothic"/>
              </a:rPr>
              <a:t>매수: 2026-06-24  →  매도: 진행중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4FF"/>
                </a:solidFill>
                <a:latin typeface="Malgun Gothic"/>
              </a:rPr>
              <a:t>이 사이클  +1141.62%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EBC"/>
                </a:solidFill>
                <a:latin typeface="Malgun Gothic"/>
              </a:rPr>
              <a:t>보유기간  1일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55680" cy="13716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8A"/>
                </a:solidFill>
                <a:latin typeface="Malgun Gothic"/>
              </a:rPr>
              <a:t>2026년 기존 누적 (이전 사이클)  +14.37%  ($100,000 → $114,371)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9EBC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[TQQQ  26-6  /  Cycle #79]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+1141.62%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1일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$73.30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$74.95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투입금액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$114,371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정산금액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진행중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12.74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≥ 75.0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Malgun Gothic"/>
              </a:rPr>
              <a:t>※ 소수점(분수) 거래 기준 — 잔고 전액 투입 가능  |  증권사 수수료 및 세금 미포함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#79]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+9.12%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91.28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$64.01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SELL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$79.93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-5.51%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48.43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$57.81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$77.54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-2.99%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32.69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$68.87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$82.87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+6.87%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72.52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$82.58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-0.35%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68.13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$65.6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$74.44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-9.86%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15.50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$74.09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2026-06-24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$73.30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-1.53%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12.74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26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$74.27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+2.25%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42.40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$73.39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2026-06-24  매수 체결  |  종가 $73.30  |  RSI(2) 12.74  |  F&amp;G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#79]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보유 2거래일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161544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161544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2026-06-24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$73.30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-1.53%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12.74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26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161544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$74.95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+2.25%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42.40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TQQQ  사이클 요약  —  2026년 사이클 전체 (6건)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96112"/>
          <a:ext cx="96012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43000"/>
                <a:gridCol w="1005840"/>
                <a:gridCol w="1417320"/>
                <a:gridCol w="1143000"/>
                <a:gridCol w="1005840"/>
                <a:gridCol w="777240"/>
                <a:gridCol w="960120"/>
                <a:gridCol w="1417320"/>
              </a:tblGrid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RSI/F&amp;G (매수)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보유(일)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11.83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$54.29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+1.02%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$101,020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$53.91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13.66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2026-02-20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$49.98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-7.30%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$93,646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2026-03-03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$48.02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12.35  /  F&amp;G 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2026-04-08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$48.00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-0.04%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$72.93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12.7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$76.95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+5.51%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$98,766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2.39  /  F&amp;G 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+15.80%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$114,371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$73.30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12.74  /  F&amp;G 26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진행중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$74.95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+1141.62%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$1,420,052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EBC"/>
                </a:solidFill>
                <a:latin typeface="Malgun Gothic"/>
              </a:rPr>
              <a:t>※ 정산금액: 해당 연도 $100,000 기준 복리 누적 · 소수점 거래 · 수수료/세금 미포함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지표 설명  &amp;  연도별 수익률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1440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Malgun Gothic"/>
              </a:rPr>
              <a:t>RSI(2)  —  Relative Strength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2일 종가 변화를 Wilder 지수평활(α=0.5)해 0~100으로 환산.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신호 ≤ 15.0  (과매도)   /   매도 신호 ≥ 75.0  (과매수)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평균상승 = 0.5 × max(오늘-어제, 0) + 0.5 × 전일 평균상승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평균하락 = 0.5 × max(어제-오늘, 0) + 0.5 × 전일 평균하락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Malgun Gothic"/>
              </a:rPr>
              <a:t>RSI(2) = 100 − 100 ÷ (1 + 평균상승 ÷ 평균하락)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algun Gothic"/>
              </a:rPr>
              <a:t>F&amp;G  —  CNN Fear &amp; Greed Index  (0~100)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CNN이 7가지 시장 데이터를 매일 집계해 0(공포)~100(탐욕)으로 수치화.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보류 ≥ 75 (탐욕)   /   매도 보류 ≤ 25 (공포)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① 모멘텀(S&amp;P500/125일MA)  ② 주가강도(52주 고저)  ③ 거래량추세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④ 풋/콜 비율  ⑤ VIX 변동성  ⑥ 안전자산 수요  ⑦ 정크본드 수요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Malgun Gothic"/>
              </a:rPr>
              <a:t>→ 7가지 지표를 동일 가중 평균해 0~100 단일 지수로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3776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Malgun Gothic"/>
              </a:rPr>
              <a:t>MDD  —  Maximum Drawdown  (최대 낙폭)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0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투자 기간 내 최고 자산 대비 최대 손실률 (낮을수록 전략 안정).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05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연도별: 매년 $100,000 재시작 → 사이클 정산마다 자산값 추적.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MDD(%) = (최고정산자산 − 현재정산자산) ÷ 최고정산자산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35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최고점: 연도 시작~현재까지 매 사이클 정산 후 누적 최댓값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Malgun Gothic"/>
              </a:rPr>
              <a:t>→ 일중 최저값 아닌 사이클 단위 정산 기준으로 낙폭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822960"/>
            <a:ext cx="22860" cy="54864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8229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연도별 수익률  (연 $100,000 기준 · 소수점 거래 · 수수료/세금 미포함)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234440"/>
          <a:ext cx="6126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22960"/>
                <a:gridCol w="1554480"/>
                <a:gridCol w="1783080"/>
                <a:gridCol w="1005840"/>
              </a:tblGrid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연간 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12회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+66.04%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$166,036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-10.5%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+29.87%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$129,866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-36.7%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12회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+74.87%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$174,869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16회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+106.45%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$206,445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13회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+36.42%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$136,423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-24.5%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64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Malgun Gothic"/>
              </a:rPr>
              <a:t>TQQQ  최근 12개월  백테스트 차트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11823192" cy="583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10528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EBC"/>
                </a:solidFill>
                <a:latin typeface="Malgun Gothic"/>
              </a:rPr>
              <a:t>※ 자산가치: 누적 복리 ($100K 시작, 연도 리셋 없음) · 수수료/세금 미포함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